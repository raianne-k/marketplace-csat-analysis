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D2D2E"/>
        </a:solidFill>
      </p:bgPr>
    </p:bg>
    <p:spTree>
      <p:nvGrpSpPr>
        <p:cNvPr id="1" name=""/>
        <p:cNvGrpSpPr/>
        <p:nvPr/>
      </p:nvGrpSpPr>
      <p:grpSpPr>
        <a:xfrm>
          <a:off x="0" y="0"/>
          <a:ext cx="0" cy="0"/>
          <a:chOff x="0" y="0"/>
          <a:chExt cx="0" cy="0"/>
        </a:xfrm>
      </p:grpSpPr>
      <p:sp>
        <p:nvSpPr>
          <p:cNvPr id="20" name="Shape 0"/>
          <p:cNvSpPr/>
          <p:nvPr/>
        </p:nvSpPr>
        <p:spPr>
          <a:xfrm>
            <a:off x="-1" y="0"/>
            <a:ext cx="146306" cy="5143500"/>
          </a:xfrm>
          <a:prstGeom prst="rect">
            <a:avLst/>
          </a:prstGeom>
          <a:solidFill>
            <a:srgbClr val="2A9D8F"/>
          </a:solidFill>
          <a:ln w="12700">
            <a:solidFill>
              <a:srgbClr val="2A9D8F"/>
            </a:solidFill>
          </a:ln>
        </p:spPr>
        <p:txBody>
          <a:bodyPr lIns="45719" rIns="45719"/>
          <a:lstStyle/>
          <a:p>
            <a:pPr/>
          </a:p>
        </p:txBody>
      </p:sp>
      <p:sp>
        <p:nvSpPr>
          <p:cNvPr id="21" name="Text 1"/>
          <p:cNvSpPr txBox="1"/>
          <p:nvPr/>
        </p:nvSpPr>
        <p:spPr>
          <a:xfrm>
            <a:off x="384047" y="1113223"/>
            <a:ext cx="5303522" cy="124827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400">
                <a:solidFill>
                  <a:srgbClr val="FFFFFF"/>
                </a:solidFill>
              </a:defRPr>
            </a:lvl1pPr>
          </a:lstStyle>
          <a:p>
            <a:pPr/>
            <a:r>
              <a:t>Customer Satisfaction Analysis</a:t>
            </a:r>
          </a:p>
        </p:txBody>
      </p:sp>
      <p:sp>
        <p:nvSpPr>
          <p:cNvPr id="22" name="Text 2"/>
          <p:cNvSpPr txBox="1"/>
          <p:nvPr/>
        </p:nvSpPr>
        <p:spPr>
          <a:xfrm>
            <a:off x="384047" y="2424492"/>
            <a:ext cx="53035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7ABFB9"/>
                </a:solidFill>
              </a:defRPr>
            </a:lvl1pPr>
          </a:lstStyle>
          <a:p>
            <a:pPr/>
            <a:r>
              <a:t>B2C Marketplace</a:t>
            </a:r>
          </a:p>
        </p:txBody>
      </p:sp>
      <p:sp>
        <p:nvSpPr>
          <p:cNvPr id="23" name="Shape 3"/>
          <p:cNvSpPr/>
          <p:nvPr/>
        </p:nvSpPr>
        <p:spPr>
          <a:xfrm>
            <a:off x="384047" y="2816351"/>
            <a:ext cx="3657601" cy="1"/>
          </a:xfrm>
          <a:prstGeom prst="line">
            <a:avLst/>
          </a:prstGeom>
          <a:ln w="12700">
            <a:solidFill>
              <a:srgbClr val="2A9D8F"/>
            </a:solidFill>
          </a:ln>
        </p:spPr>
        <p:txBody>
          <a:bodyPr lIns="45719" rIns="45719"/>
          <a:lstStyle/>
          <a:p>
            <a:pPr/>
          </a:p>
        </p:txBody>
      </p:sp>
      <p:sp>
        <p:nvSpPr>
          <p:cNvPr id="24" name="Text 4"/>
          <p:cNvSpPr txBox="1"/>
          <p:nvPr/>
        </p:nvSpPr>
        <p:spPr>
          <a:xfrm>
            <a:off x="384047" y="3060114"/>
            <a:ext cx="5029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7ABFB9"/>
                </a:solidFill>
              </a:defRPr>
            </a:lvl1pPr>
          </a:lstStyle>
          <a:p>
            <a:pPr/>
            <a:r>
              <a:t>Python · Pandas · Plotly · Olist Dataset (2016-2018)</a:t>
            </a:r>
          </a:p>
        </p:txBody>
      </p:sp>
      <p:sp>
        <p:nvSpPr>
          <p:cNvPr id="25" name="Text 5"/>
          <p:cNvSpPr txBox="1"/>
          <p:nvPr/>
        </p:nvSpPr>
        <p:spPr>
          <a:xfrm>
            <a:off x="384047" y="3361865"/>
            <a:ext cx="50292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A8A86"/>
                </a:solidFill>
              </a:defRPr>
            </a:lvl1pPr>
          </a:lstStyle>
          <a:p>
            <a:pPr/>
            <a:r>
              <a:t>Google DA Certification Capstone Project</a:t>
            </a:r>
          </a:p>
        </p:txBody>
      </p:sp>
      <p:sp>
        <p:nvSpPr>
          <p:cNvPr id="26" name="Shape 6"/>
          <p:cNvSpPr/>
          <p:nvPr/>
        </p:nvSpPr>
        <p:spPr>
          <a:xfrm>
            <a:off x="6400800" y="731519"/>
            <a:ext cx="2468881" cy="3749042"/>
          </a:xfrm>
          <a:prstGeom prst="rect">
            <a:avLst/>
          </a:prstGeom>
          <a:solidFill>
            <a:srgbClr val="162828"/>
          </a:solidFill>
          <a:ln w="12700">
            <a:solidFill>
              <a:srgbClr val="213A3A"/>
            </a:solidFill>
          </a:ln>
        </p:spPr>
        <p:txBody>
          <a:bodyPr lIns="45719" rIns="45719"/>
          <a:lstStyle/>
          <a:p>
            <a:pPr/>
          </a:p>
        </p:txBody>
      </p:sp>
      <p:sp>
        <p:nvSpPr>
          <p:cNvPr id="27" name="Shape 7"/>
          <p:cNvSpPr/>
          <p:nvPr/>
        </p:nvSpPr>
        <p:spPr>
          <a:xfrm>
            <a:off x="6400800" y="731519"/>
            <a:ext cx="2468881" cy="45721"/>
          </a:xfrm>
          <a:prstGeom prst="rect">
            <a:avLst/>
          </a:prstGeom>
          <a:solidFill>
            <a:srgbClr val="C1432A"/>
          </a:solidFill>
          <a:ln w="12700">
            <a:solidFill>
              <a:srgbClr val="C1432A"/>
            </a:solidFill>
          </a:ln>
        </p:spPr>
        <p:txBody>
          <a:bodyPr lIns="45719" rIns="45719"/>
          <a:lstStyle/>
          <a:p>
            <a:pPr/>
          </a:p>
        </p:txBody>
      </p:sp>
      <p:sp>
        <p:nvSpPr>
          <p:cNvPr id="28" name="Text 8"/>
          <p:cNvSpPr txBox="1"/>
          <p:nvPr/>
        </p:nvSpPr>
        <p:spPr>
          <a:xfrm>
            <a:off x="6400800" y="1338322"/>
            <a:ext cx="2468881" cy="7066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5600">
                <a:solidFill>
                  <a:schemeClr val="accent4"/>
                </a:solidFill>
              </a:defRPr>
            </a:lvl1pPr>
          </a:lstStyle>
          <a:p>
            <a:pPr/>
            <a:r>
              <a:t>57.3%</a:t>
            </a:r>
          </a:p>
        </p:txBody>
      </p:sp>
      <p:sp>
        <p:nvSpPr>
          <p:cNvPr id="29" name="Text 9"/>
          <p:cNvSpPr txBox="1"/>
          <p:nvPr/>
        </p:nvSpPr>
        <p:spPr>
          <a:xfrm>
            <a:off x="6400800" y="2675558"/>
            <a:ext cx="2468881"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100">
                <a:solidFill>
                  <a:srgbClr val="7ABFB9"/>
                </a:solidFill>
              </a:defRPr>
            </a:pPr>
            <a:r>
              <a:t>of delivered orders flow</a:t>
            </a:r>
          </a:p>
          <a:p>
            <a:pPr algn="ctr">
              <a:defRPr sz="1100">
                <a:solidFill>
                  <a:srgbClr val="7ABFB9"/>
                </a:solidFill>
              </a:defRPr>
            </a:pPr>
            <a:r>
              <a:t>through the weaker half</a:t>
            </a:r>
          </a:p>
          <a:p>
            <a:pPr algn="ctr">
              <a:defRPr sz="1100">
                <a:solidFill>
                  <a:srgbClr val="7ABFB9"/>
                </a:solidFill>
              </a:defRPr>
            </a:pPr>
            <a:r>
              <a:t>of sellers</a:t>
            </a:r>
          </a:p>
        </p:txBody>
      </p:sp>
      <p:sp>
        <p:nvSpPr>
          <p:cNvPr id="30" name="Shape 10"/>
          <p:cNvSpPr/>
          <p:nvPr/>
        </p:nvSpPr>
        <p:spPr>
          <a:xfrm>
            <a:off x="6675119" y="3474720"/>
            <a:ext cx="1920241" cy="1"/>
          </a:xfrm>
          <a:prstGeom prst="line">
            <a:avLst/>
          </a:prstGeom>
          <a:ln>
            <a:solidFill>
              <a:srgbClr val="2A4A48"/>
            </a:solidFill>
          </a:ln>
        </p:spPr>
        <p:txBody>
          <a:bodyPr lIns="45719" rIns="45719"/>
          <a:lstStyle/>
          <a:p>
            <a:pPr/>
          </a:p>
        </p:txBody>
      </p:sp>
      <p:sp>
        <p:nvSpPr>
          <p:cNvPr id="31" name="Text 11"/>
          <p:cNvSpPr txBox="1"/>
          <p:nvPr/>
        </p:nvSpPr>
        <p:spPr>
          <a:xfrm>
            <a:off x="6400800" y="3630675"/>
            <a:ext cx="24688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900">
                <a:solidFill>
                  <a:srgbClr val="5A8A86"/>
                </a:solidFill>
              </a:defRPr>
            </a:lvl1pPr>
          </a:lstStyle>
          <a:p>
            <a:pPr/>
            <a:r>
              <a:t>The key finding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AF9"/>
        </a:solidFill>
      </p:bgPr>
    </p:bg>
    <p:spTree>
      <p:nvGrpSpPr>
        <p:cNvPr id="1" name=""/>
        <p:cNvGrpSpPr/>
        <p:nvPr/>
      </p:nvGrpSpPr>
      <p:grpSpPr>
        <a:xfrm>
          <a:off x="0" y="0"/>
          <a:ext cx="0" cy="0"/>
          <a:chOff x="0" y="0"/>
          <a:chExt cx="0" cy="0"/>
        </a:xfrm>
      </p:grpSpPr>
      <p:sp>
        <p:nvSpPr>
          <p:cNvPr id="33" name="Text 0"/>
          <p:cNvSpPr txBox="1"/>
          <p:nvPr/>
        </p:nvSpPr>
        <p:spPr>
          <a:xfrm>
            <a:off x="411479" y="295183"/>
            <a:ext cx="265176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A9D8F"/>
                </a:solidFill>
              </a:defRPr>
            </a:lvl1pPr>
          </a:lstStyle>
          <a:p>
            <a:pPr/>
            <a:r>
              <a:t>Situation</a:t>
            </a:r>
          </a:p>
        </p:txBody>
      </p:sp>
      <p:sp>
        <p:nvSpPr>
          <p:cNvPr id="34" name="Text 1"/>
          <p:cNvSpPr txBox="1"/>
          <p:nvPr/>
        </p:nvSpPr>
        <p:spPr>
          <a:xfrm>
            <a:off x="365759" y="596534"/>
            <a:ext cx="8412482" cy="9009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solidFill>
                  <a:srgbClr val="1A2F2F"/>
                </a:solidFill>
              </a:defRPr>
            </a:pPr>
            <a:r>
              <a:t>CSAT is declining.</a:t>
            </a:r>
          </a:p>
          <a:p>
            <a:pPr>
              <a:defRPr b="1" sz="3200">
                <a:solidFill>
                  <a:srgbClr val="1A2F2F"/>
                </a:solidFill>
              </a:defRPr>
            </a:pPr>
            <a:r>
              <a:t>We need to understand why.</a:t>
            </a:r>
          </a:p>
        </p:txBody>
      </p:sp>
      <p:sp>
        <p:nvSpPr>
          <p:cNvPr id="35" name="Shape 2"/>
          <p:cNvSpPr/>
          <p:nvPr/>
        </p:nvSpPr>
        <p:spPr>
          <a:xfrm>
            <a:off x="365759" y="1572767"/>
            <a:ext cx="8412482" cy="1"/>
          </a:xfrm>
          <a:prstGeom prst="line">
            <a:avLst/>
          </a:prstGeom>
          <a:ln>
            <a:solidFill>
              <a:srgbClr val="C8DDD9"/>
            </a:solidFill>
          </a:ln>
        </p:spPr>
        <p:txBody>
          <a:bodyPr lIns="45719" rIns="45719"/>
          <a:lstStyle/>
          <a:p>
            <a:pPr/>
          </a:p>
        </p:txBody>
      </p:sp>
      <p:sp>
        <p:nvSpPr>
          <p:cNvPr id="36" name="Text 3"/>
          <p:cNvSpPr txBox="1"/>
          <p:nvPr/>
        </p:nvSpPr>
        <p:spPr>
          <a:xfrm>
            <a:off x="411479" y="1723688"/>
            <a:ext cx="4023361" cy="2285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5C7270"/>
                </a:solidFill>
              </a:defRPr>
            </a:lvl1pPr>
          </a:lstStyle>
          <a:p>
            <a:pPr/>
            <a:r>
              <a:t>Context</a:t>
            </a:r>
          </a:p>
        </p:txBody>
      </p:sp>
      <p:sp>
        <p:nvSpPr>
          <p:cNvPr id="37" name="Text 4"/>
          <p:cNvSpPr txBox="1"/>
          <p:nvPr/>
        </p:nvSpPr>
        <p:spPr>
          <a:xfrm>
            <a:off x="411479" y="2029967"/>
            <a:ext cx="4023361" cy="12163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100">
                <a:solidFill>
                  <a:srgbClr val="1A2F2F"/>
                </a:solidFill>
              </a:defRPr>
            </a:pPr>
            <a:r>
              <a:t>Cartana connects independent sellers with buyers across multiple product categories. CSAT scores declined for two consecutive quarters, with internal reporting pointing to delivery delays and product quality inconsistency as potential drivers.</a:t>
            </a:r>
          </a:p>
          <a:p>
            <a:pPr>
              <a:defRPr sz="1100"/>
            </a:pPr>
          </a:p>
          <a:p>
            <a:pPr>
              <a:defRPr sz="1100">
                <a:solidFill>
                  <a:srgbClr val="1A2F2F"/>
                </a:solidFill>
              </a:defRPr>
            </a:pPr>
            <a:r>
              <a:t>The VP of Product commissioned a structured investigation from the Growth Analytics team.</a:t>
            </a:r>
          </a:p>
        </p:txBody>
      </p:sp>
      <p:sp>
        <p:nvSpPr>
          <p:cNvPr id="38" name="Shape 5"/>
          <p:cNvSpPr/>
          <p:nvPr/>
        </p:nvSpPr>
        <p:spPr>
          <a:xfrm flipH="1">
            <a:off x="4663440" y="1700783"/>
            <a:ext cx="1" cy="2651761"/>
          </a:xfrm>
          <a:prstGeom prst="line">
            <a:avLst/>
          </a:prstGeom>
          <a:ln>
            <a:solidFill>
              <a:srgbClr val="C8DDD9"/>
            </a:solidFill>
          </a:ln>
        </p:spPr>
        <p:txBody>
          <a:bodyPr lIns="45719" rIns="45719"/>
          <a:lstStyle/>
          <a:p>
            <a:pPr/>
          </a:p>
        </p:txBody>
      </p:sp>
      <p:sp>
        <p:nvSpPr>
          <p:cNvPr id="39" name="Text 6"/>
          <p:cNvSpPr txBox="1"/>
          <p:nvPr/>
        </p:nvSpPr>
        <p:spPr>
          <a:xfrm>
            <a:off x="4892040" y="1723688"/>
            <a:ext cx="3840481" cy="2285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5C7270"/>
                </a:solidFill>
              </a:defRPr>
            </a:lvl1pPr>
          </a:lstStyle>
          <a:p>
            <a:pPr/>
            <a:r>
              <a:t>Three questions we set out to answer</a:t>
            </a:r>
          </a:p>
        </p:txBody>
      </p:sp>
      <p:sp>
        <p:nvSpPr>
          <p:cNvPr id="40" name="Text 7"/>
          <p:cNvSpPr txBox="1"/>
          <p:nvPr/>
        </p:nvSpPr>
        <p:spPr>
          <a:xfrm>
            <a:off x="4846320" y="2161847"/>
            <a:ext cx="256033"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A9D8F"/>
                </a:solidFill>
              </a:defRPr>
            </a:lvl1pPr>
          </a:lstStyle>
          <a:p>
            <a:pPr/>
            <a:r>
              <a:t>1</a:t>
            </a:r>
          </a:p>
        </p:txBody>
      </p:sp>
      <p:sp>
        <p:nvSpPr>
          <p:cNvPr id="41" name="Text 8"/>
          <p:cNvSpPr txBox="1"/>
          <p:nvPr/>
        </p:nvSpPr>
        <p:spPr>
          <a:xfrm>
            <a:off x="5239511" y="2127426"/>
            <a:ext cx="3474720"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1A2F2F"/>
                </a:solidFill>
              </a:defRPr>
            </a:lvl1pPr>
          </a:lstStyle>
          <a:p>
            <a:pPr/>
            <a:r>
              <a:t>What drives satisfaction in customer satisfaction?</a:t>
            </a:r>
          </a:p>
        </p:txBody>
      </p:sp>
      <p:sp>
        <p:nvSpPr>
          <p:cNvPr id="42" name="Text 9"/>
          <p:cNvSpPr txBox="1"/>
          <p:nvPr/>
        </p:nvSpPr>
        <p:spPr>
          <a:xfrm>
            <a:off x="4846320" y="2756207"/>
            <a:ext cx="256033"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A9D8F"/>
                </a:solidFill>
              </a:defRPr>
            </a:lvl1pPr>
          </a:lstStyle>
          <a:p>
            <a:pPr/>
            <a:r>
              <a:t>2</a:t>
            </a:r>
          </a:p>
        </p:txBody>
      </p:sp>
      <p:sp>
        <p:nvSpPr>
          <p:cNvPr id="43" name="Text 10"/>
          <p:cNvSpPr txBox="1"/>
          <p:nvPr/>
        </p:nvSpPr>
        <p:spPr>
          <a:xfrm>
            <a:off x="5239511" y="2721786"/>
            <a:ext cx="3474720"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1A2F2F"/>
                </a:solidFill>
              </a:defRPr>
            </a:lvl1pPr>
          </a:lstStyle>
          <a:p>
            <a:pPr/>
            <a:r>
              <a:t>How does delivery performance impact CSAT?</a:t>
            </a:r>
          </a:p>
        </p:txBody>
      </p:sp>
      <p:sp>
        <p:nvSpPr>
          <p:cNvPr id="44" name="Text 11"/>
          <p:cNvSpPr txBox="1"/>
          <p:nvPr/>
        </p:nvSpPr>
        <p:spPr>
          <a:xfrm>
            <a:off x="4846320" y="3350567"/>
            <a:ext cx="256033"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A9D8F"/>
                </a:solidFill>
              </a:defRPr>
            </a:lvl1pPr>
          </a:lstStyle>
          <a:p>
            <a:pPr/>
            <a:r>
              <a:t>3</a:t>
            </a:r>
          </a:p>
        </p:txBody>
      </p:sp>
      <p:sp>
        <p:nvSpPr>
          <p:cNvPr id="45" name="Text 12"/>
          <p:cNvSpPr txBox="1"/>
          <p:nvPr/>
        </p:nvSpPr>
        <p:spPr>
          <a:xfrm>
            <a:off x="5239511" y="3316146"/>
            <a:ext cx="3474720"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1A2F2F"/>
                </a:solidFill>
              </a:defRPr>
            </a:lvl1pPr>
          </a:lstStyle>
          <a:p>
            <a:pPr/>
            <a:r>
              <a:t>Is seller performance a key mechanism behind issues?</a:t>
            </a:r>
          </a:p>
        </p:txBody>
      </p:sp>
      <p:sp>
        <p:nvSpPr>
          <p:cNvPr id="46" name="Shape 15"/>
          <p:cNvSpPr/>
          <p:nvPr/>
        </p:nvSpPr>
        <p:spPr>
          <a:xfrm>
            <a:off x="0" y="4956047"/>
            <a:ext cx="9144000" cy="187453"/>
          </a:xfrm>
          <a:prstGeom prst="rect">
            <a:avLst/>
          </a:prstGeom>
          <a:solidFill>
            <a:srgbClr val="1A2F2F"/>
          </a:solidFill>
          <a:ln w="12700">
            <a:solidFill>
              <a:srgbClr val="1A2F2F"/>
            </a:solidFill>
          </a:ln>
        </p:spPr>
        <p:txBody>
          <a:bodyPr lIns="45719" rIns="45719"/>
          <a:lstStyle/>
          <a:p>
            <a:pPr/>
          </a:p>
        </p:txBody>
      </p:sp>
      <p:sp>
        <p:nvSpPr>
          <p:cNvPr id="47" name="Text 16"/>
          <p:cNvSpPr txBox="1"/>
          <p:nvPr/>
        </p:nvSpPr>
        <p:spPr>
          <a:xfrm>
            <a:off x="411479" y="4956714"/>
            <a:ext cx="832104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7ABFB9"/>
                </a:solidFill>
              </a:defRPr>
            </a:lvl1pPr>
          </a:lstStyle>
          <a:p>
            <a:pPr/>
            <a:r>
              <a:t>Marketplace  ·  Customer Satisfaction Analysis  ·  Situation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AF9"/>
        </a:solidFill>
      </p:bgPr>
    </p:bg>
    <p:spTree>
      <p:nvGrpSpPr>
        <p:cNvPr id="1" name=""/>
        <p:cNvGrpSpPr/>
        <p:nvPr/>
      </p:nvGrpSpPr>
      <p:grpSpPr>
        <a:xfrm>
          <a:off x="0" y="0"/>
          <a:ext cx="0" cy="0"/>
          <a:chOff x="0" y="0"/>
          <a:chExt cx="0" cy="0"/>
        </a:xfrm>
      </p:grpSpPr>
      <p:sp>
        <p:nvSpPr>
          <p:cNvPr id="49" name="Text 0"/>
          <p:cNvSpPr txBox="1"/>
          <p:nvPr/>
        </p:nvSpPr>
        <p:spPr>
          <a:xfrm>
            <a:off x="411479" y="295183"/>
            <a:ext cx="265176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A9D8F"/>
                </a:solidFill>
              </a:defRPr>
            </a:lvl1pPr>
          </a:lstStyle>
          <a:p>
            <a:pPr/>
            <a:r>
              <a:t>Analytical next steps</a:t>
            </a:r>
          </a:p>
        </p:txBody>
      </p:sp>
      <p:sp>
        <p:nvSpPr>
          <p:cNvPr id="50" name="Shape 2"/>
          <p:cNvSpPr/>
          <p:nvPr/>
        </p:nvSpPr>
        <p:spPr>
          <a:xfrm>
            <a:off x="365759" y="1106797"/>
            <a:ext cx="8412482" cy="1"/>
          </a:xfrm>
          <a:prstGeom prst="line">
            <a:avLst/>
          </a:prstGeom>
          <a:ln>
            <a:solidFill>
              <a:srgbClr val="C8DDD9"/>
            </a:solidFill>
          </a:ln>
        </p:spPr>
        <p:txBody>
          <a:bodyPr lIns="45719" rIns="45719"/>
          <a:lstStyle/>
          <a:p>
            <a:pPr/>
          </a:p>
        </p:txBody>
      </p:sp>
      <p:sp>
        <p:nvSpPr>
          <p:cNvPr id="51" name="Text 3"/>
          <p:cNvSpPr txBox="1"/>
          <p:nvPr/>
        </p:nvSpPr>
        <p:spPr>
          <a:xfrm>
            <a:off x="365759" y="1510928"/>
            <a:ext cx="502921"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2A9D8F"/>
                </a:solidFill>
              </a:defRPr>
            </a:lvl1pPr>
          </a:lstStyle>
          <a:p>
            <a:pPr/>
            <a:r>
              <a:t>01</a:t>
            </a:r>
          </a:p>
        </p:txBody>
      </p:sp>
      <p:sp>
        <p:nvSpPr>
          <p:cNvPr id="52" name="Shape 4"/>
          <p:cNvSpPr/>
          <p:nvPr/>
        </p:nvSpPr>
        <p:spPr>
          <a:xfrm flipH="1">
            <a:off x="969264" y="1290848"/>
            <a:ext cx="1" cy="786385"/>
          </a:xfrm>
          <a:prstGeom prst="line">
            <a:avLst/>
          </a:prstGeom>
          <a:ln w="12700">
            <a:solidFill>
              <a:srgbClr val="C8DDD9"/>
            </a:solidFill>
          </a:ln>
        </p:spPr>
        <p:txBody>
          <a:bodyPr lIns="45719" rIns="45719"/>
          <a:lstStyle/>
          <a:p>
            <a:pPr/>
          </a:p>
        </p:txBody>
      </p:sp>
      <p:sp>
        <p:nvSpPr>
          <p:cNvPr id="53" name="Text 5"/>
          <p:cNvSpPr txBox="1"/>
          <p:nvPr/>
        </p:nvSpPr>
        <p:spPr>
          <a:xfrm>
            <a:off x="1161288" y="1290848"/>
            <a:ext cx="749807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A2F2F"/>
                </a:solidFill>
              </a:defRPr>
            </a:lvl1pPr>
          </a:lstStyle>
          <a:p>
            <a:pPr/>
            <a:r>
              <a:t>Category-level Variation</a:t>
            </a:r>
          </a:p>
        </p:txBody>
      </p:sp>
      <p:sp>
        <p:nvSpPr>
          <p:cNvPr id="54" name="Shape 8"/>
          <p:cNvSpPr/>
          <p:nvPr/>
        </p:nvSpPr>
        <p:spPr>
          <a:xfrm>
            <a:off x="365759" y="2345840"/>
            <a:ext cx="8412482" cy="1"/>
          </a:xfrm>
          <a:prstGeom prst="line">
            <a:avLst/>
          </a:prstGeom>
          <a:ln w="6350">
            <a:solidFill>
              <a:srgbClr val="C8DDD9"/>
            </a:solidFill>
          </a:ln>
        </p:spPr>
        <p:txBody>
          <a:bodyPr lIns="45719" rIns="45719"/>
          <a:lstStyle/>
          <a:p>
            <a:pPr/>
          </a:p>
        </p:txBody>
      </p:sp>
      <p:sp>
        <p:nvSpPr>
          <p:cNvPr id="55" name="Text 9"/>
          <p:cNvSpPr txBox="1"/>
          <p:nvPr/>
        </p:nvSpPr>
        <p:spPr>
          <a:xfrm>
            <a:off x="365759" y="2693936"/>
            <a:ext cx="502921"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2A9D8F"/>
                </a:solidFill>
              </a:defRPr>
            </a:lvl1pPr>
          </a:lstStyle>
          <a:p>
            <a:pPr/>
            <a:r>
              <a:t>02</a:t>
            </a:r>
          </a:p>
        </p:txBody>
      </p:sp>
      <p:sp>
        <p:nvSpPr>
          <p:cNvPr id="56" name="Shape 10"/>
          <p:cNvSpPr/>
          <p:nvPr/>
        </p:nvSpPr>
        <p:spPr>
          <a:xfrm flipH="1">
            <a:off x="969264" y="2473856"/>
            <a:ext cx="1" cy="786385"/>
          </a:xfrm>
          <a:prstGeom prst="line">
            <a:avLst/>
          </a:prstGeom>
          <a:ln w="12700">
            <a:solidFill>
              <a:srgbClr val="C8DDD9"/>
            </a:solidFill>
          </a:ln>
        </p:spPr>
        <p:txBody>
          <a:bodyPr lIns="45719" rIns="45719"/>
          <a:lstStyle/>
          <a:p>
            <a:pPr/>
          </a:p>
        </p:txBody>
      </p:sp>
      <p:sp>
        <p:nvSpPr>
          <p:cNvPr id="57" name="Text 11"/>
          <p:cNvSpPr txBox="1"/>
          <p:nvPr/>
        </p:nvSpPr>
        <p:spPr>
          <a:xfrm>
            <a:off x="1161288" y="2441977"/>
            <a:ext cx="749807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A2F2F"/>
                </a:solidFill>
              </a:defRPr>
            </a:lvl1pPr>
          </a:lstStyle>
          <a:p>
            <a:pPr/>
            <a:r>
              <a:t>Delivery Performance</a:t>
            </a:r>
          </a:p>
        </p:txBody>
      </p:sp>
      <p:sp>
        <p:nvSpPr>
          <p:cNvPr id="58" name="Text 12"/>
          <p:cNvSpPr txBox="1"/>
          <p:nvPr/>
        </p:nvSpPr>
        <p:spPr>
          <a:xfrm>
            <a:off x="1161288" y="2662533"/>
            <a:ext cx="7498079" cy="7238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solidFill>
                  <a:srgbClr val="5C7270"/>
                </a:solidFill>
              </a:defRPr>
            </a:pPr>
            <a:r>
              <a:t>Then we will test whether operational execution explains satisfaction outcomes, and quantify impact of delivery on customer experience.</a:t>
            </a:r>
          </a:p>
          <a:p>
            <a:pPr marL="100263" indent="-100263">
              <a:buSzPct val="100000"/>
              <a:buChar char="•"/>
              <a:defRPr b="1" sz="1000">
                <a:solidFill>
                  <a:srgbClr val="5C7270"/>
                </a:solidFill>
              </a:defRPr>
            </a:pPr>
            <a:r>
              <a:t>Delivery delay vs Review Score (correlation): </a:t>
            </a:r>
            <a:r>
              <a:rPr b="0"/>
              <a:t>how satisfaction changes as delivery delays increase.</a:t>
            </a:r>
          </a:p>
          <a:p>
            <a:pPr marL="100263" indent="-100263">
              <a:buSzPct val="100000"/>
              <a:buChar char="•"/>
              <a:defRPr b="1" sz="1000">
                <a:solidFill>
                  <a:srgbClr val="5C7270"/>
                </a:solidFill>
              </a:defRPr>
            </a:pPr>
            <a:r>
              <a:t>Score distribution by delivery bucket: </a:t>
            </a:r>
            <a:r>
              <a:rPr b="0"/>
              <a:t>how late deliveries shift the review profile beyond the average.</a:t>
            </a:r>
          </a:p>
          <a:p>
            <a:pPr marL="100263" indent="-100263">
              <a:buSzPct val="100000"/>
              <a:buChar char="•"/>
              <a:defRPr b="1" sz="1000">
                <a:solidFill>
                  <a:srgbClr val="5C7270"/>
                </a:solidFill>
              </a:defRPr>
            </a:pPr>
            <a:r>
              <a:t>Late Delivery rates among low-rated reviews: </a:t>
            </a:r>
            <a:r>
              <a:rPr b="0"/>
              <a:t>whether poor experiences are driven by delayed orders  </a:t>
            </a:r>
          </a:p>
        </p:txBody>
      </p:sp>
      <p:sp>
        <p:nvSpPr>
          <p:cNvPr id="59" name="Shape 14"/>
          <p:cNvSpPr/>
          <p:nvPr/>
        </p:nvSpPr>
        <p:spPr>
          <a:xfrm>
            <a:off x="365759" y="3475887"/>
            <a:ext cx="8412482" cy="1"/>
          </a:xfrm>
          <a:prstGeom prst="line">
            <a:avLst/>
          </a:prstGeom>
          <a:ln w="6350">
            <a:solidFill>
              <a:srgbClr val="C8DDD9"/>
            </a:solidFill>
          </a:ln>
        </p:spPr>
        <p:txBody>
          <a:bodyPr lIns="45719" rIns="45719"/>
          <a:lstStyle/>
          <a:p>
            <a:pPr/>
          </a:p>
        </p:txBody>
      </p:sp>
      <p:sp>
        <p:nvSpPr>
          <p:cNvPr id="60" name="Text 15"/>
          <p:cNvSpPr txBox="1"/>
          <p:nvPr/>
        </p:nvSpPr>
        <p:spPr>
          <a:xfrm>
            <a:off x="365759" y="3965844"/>
            <a:ext cx="502921"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2A9D8F"/>
                </a:solidFill>
              </a:defRPr>
            </a:lvl1pPr>
          </a:lstStyle>
          <a:p>
            <a:pPr/>
            <a:r>
              <a:t>03</a:t>
            </a:r>
          </a:p>
        </p:txBody>
      </p:sp>
      <p:sp>
        <p:nvSpPr>
          <p:cNvPr id="61" name="Shape 16"/>
          <p:cNvSpPr/>
          <p:nvPr/>
        </p:nvSpPr>
        <p:spPr>
          <a:xfrm flipH="1">
            <a:off x="969264" y="3696607"/>
            <a:ext cx="1" cy="786385"/>
          </a:xfrm>
          <a:prstGeom prst="line">
            <a:avLst/>
          </a:prstGeom>
          <a:ln w="12700">
            <a:solidFill>
              <a:srgbClr val="C8DDD9"/>
            </a:solidFill>
          </a:ln>
        </p:spPr>
        <p:txBody>
          <a:bodyPr lIns="45719" rIns="45719"/>
          <a:lstStyle/>
          <a:p>
            <a:pPr/>
          </a:p>
        </p:txBody>
      </p:sp>
      <p:sp>
        <p:nvSpPr>
          <p:cNvPr id="62" name="Text 17"/>
          <p:cNvSpPr txBox="1"/>
          <p:nvPr/>
        </p:nvSpPr>
        <p:spPr>
          <a:xfrm>
            <a:off x="1161288" y="3592788"/>
            <a:ext cx="749807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1A2F2F"/>
                </a:solidFill>
              </a:defRPr>
            </a:lvl1pPr>
          </a:lstStyle>
          <a:p>
            <a:pPr/>
            <a:r>
              <a:t>Seller Performance</a:t>
            </a:r>
          </a:p>
        </p:txBody>
      </p:sp>
      <p:sp>
        <p:nvSpPr>
          <p:cNvPr id="63" name="Text 18"/>
          <p:cNvSpPr txBox="1"/>
          <p:nvPr/>
        </p:nvSpPr>
        <p:spPr>
          <a:xfrm>
            <a:off x="1161288" y="3825252"/>
            <a:ext cx="7498079" cy="8889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solidFill>
                  <a:srgbClr val="5C7270"/>
                </a:solidFill>
              </a:defRPr>
            </a:pPr>
            <a:r>
              <a:t>Lastly it is important to determine whether variation is driven by a platform-wide issue or specific sellers. </a:t>
            </a:r>
          </a:p>
          <a:p>
            <a:pPr>
              <a:defRPr sz="1000">
                <a:solidFill>
                  <a:srgbClr val="5C7270"/>
                </a:solidFill>
              </a:defRPr>
            </a:pPr>
            <a:r>
              <a:t>This way we identify the root cause mechanism behind delivery issues.</a:t>
            </a:r>
          </a:p>
          <a:p>
            <a:pPr marL="100263" indent="-100263">
              <a:buSzPct val="100000"/>
              <a:buChar char="•"/>
              <a:defRPr b="1" sz="1000">
                <a:solidFill>
                  <a:srgbClr val="5C7270"/>
                </a:solidFill>
              </a:defRPr>
            </a:pPr>
            <a:r>
              <a:t>Seller-level score and late delivery rate distribution: </a:t>
            </a:r>
            <a:r>
              <a:rPr b="0"/>
              <a:t>how much performance varies across sellers.</a:t>
            </a:r>
          </a:p>
          <a:p>
            <a:pPr marL="100263" indent="-100263">
              <a:buSzPct val="100000"/>
              <a:buChar char="•"/>
              <a:defRPr b="1" sz="1000">
                <a:solidFill>
                  <a:srgbClr val="5C7270"/>
                </a:solidFill>
              </a:defRPr>
            </a:pPr>
            <a:r>
              <a:t>Buyer outcomes by seller performance tiers: </a:t>
            </a:r>
            <a:r>
              <a:rPr b="0"/>
              <a:t>comparing customer experience between higher- and lower-performing sellers.</a:t>
            </a:r>
          </a:p>
          <a:p>
            <a:pPr marL="100263" indent="-100263">
              <a:buSzPct val="100000"/>
              <a:buChar char="•"/>
              <a:defRPr b="1" sz="1000">
                <a:solidFill>
                  <a:srgbClr val="5C7270"/>
                </a:solidFill>
              </a:defRPr>
            </a:pPr>
            <a:r>
              <a:t>Share of orders flowing through low-performing sellers: </a:t>
            </a:r>
            <a:r>
              <a:rPr b="0"/>
              <a:t>how much of the marketplace is exposed to levels of sellers. </a:t>
            </a:r>
          </a:p>
        </p:txBody>
      </p:sp>
      <p:sp>
        <p:nvSpPr>
          <p:cNvPr id="64" name="Text 5"/>
          <p:cNvSpPr txBox="1"/>
          <p:nvPr/>
        </p:nvSpPr>
        <p:spPr>
          <a:xfrm>
            <a:off x="1161288" y="1495698"/>
            <a:ext cx="7498079" cy="7238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solidFill>
                  <a:srgbClr val="5C7270"/>
                </a:solidFill>
              </a:defRPr>
            </a:pPr>
            <a:r>
              <a:t>We need to validate whether dissatisfaction is localized or systemic. </a:t>
            </a:r>
          </a:p>
          <a:p>
            <a:pPr>
              <a:defRPr sz="1000">
                <a:solidFill>
                  <a:srgbClr val="5C7270"/>
                </a:solidFill>
              </a:defRPr>
            </a:pPr>
            <a:r>
              <a:t>To identify where satisfaction differs across the marketplace:</a:t>
            </a:r>
          </a:p>
          <a:p>
            <a:pPr marL="100263" indent="-100263">
              <a:buSzPct val="100000"/>
              <a:buChar char="•"/>
              <a:defRPr b="1" sz="1000">
                <a:solidFill>
                  <a:srgbClr val="5C7270"/>
                </a:solidFill>
              </a:defRPr>
            </a:pPr>
            <a:r>
              <a:t> Average review score by category: </a:t>
            </a:r>
            <a:r>
              <a:rPr b="0"/>
              <a:t>which categories systematically underperform and where issues are concentrated.</a:t>
            </a:r>
          </a:p>
          <a:p>
            <a:pPr marL="100263" indent="-100263">
              <a:buSzPct val="100000"/>
              <a:buChar char="•"/>
              <a:defRPr b="1" sz="1000">
                <a:solidFill>
                  <a:srgbClr val="5C7270"/>
                </a:solidFill>
              </a:defRPr>
            </a:pPr>
            <a:r>
              <a:t>Score distribution across categories: </a:t>
            </a:r>
            <a:r>
              <a:rPr b="0"/>
              <a:t>whether lower averages are driven by consistent underperformance or a share of negative reviews </a:t>
            </a:r>
          </a:p>
        </p:txBody>
      </p:sp>
      <p:sp>
        <p:nvSpPr>
          <p:cNvPr id="65" name="Text 1"/>
          <p:cNvSpPr txBox="1"/>
          <p:nvPr/>
        </p:nvSpPr>
        <p:spPr>
          <a:xfrm>
            <a:off x="365759" y="569427"/>
            <a:ext cx="8412482" cy="3533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2F2F"/>
                </a:solidFill>
              </a:defRPr>
            </a:lvl1pPr>
          </a:lstStyle>
          <a:p>
            <a:pPr/>
            <a:r>
              <a:t>What will be the approach?</a:t>
            </a:r>
          </a:p>
        </p:txBody>
      </p:sp>
      <p:sp>
        <p:nvSpPr>
          <p:cNvPr id="66" name="Text 5"/>
          <p:cNvSpPr txBox="1"/>
          <p:nvPr/>
        </p:nvSpPr>
        <p:spPr>
          <a:xfrm>
            <a:off x="4988209" y="617984"/>
            <a:ext cx="3334843"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5C7270"/>
                </a:solidFill>
              </a:defRPr>
            </a:lvl1pPr>
          </a:lstStyle>
          <a:p>
            <a:pPr/>
            <a:r>
              <a:t>The analysis was structured into three focus points:</a:t>
            </a:r>
          </a:p>
        </p:txBody>
      </p:sp>
      <p:sp>
        <p:nvSpPr>
          <p:cNvPr id="67" name="Shape 4"/>
          <p:cNvSpPr/>
          <p:nvPr/>
        </p:nvSpPr>
        <p:spPr>
          <a:xfrm>
            <a:off x="4572000" y="569427"/>
            <a:ext cx="0" cy="353319"/>
          </a:xfrm>
          <a:prstGeom prst="line">
            <a:avLst/>
          </a:prstGeom>
          <a:ln w="12700">
            <a:solidFill>
              <a:srgbClr val="C8DDD9"/>
            </a:solidFill>
          </a:ln>
        </p:spPr>
        <p:txBody>
          <a:bodyPr lIns="45719" rIns="45719"/>
          <a:lstStyle/>
          <a:p>
            <a:pPr/>
          </a:p>
        </p:txBody>
      </p:sp>
      <p:sp>
        <p:nvSpPr>
          <p:cNvPr id="68" name="Shape 16"/>
          <p:cNvSpPr/>
          <p:nvPr/>
        </p:nvSpPr>
        <p:spPr>
          <a:xfrm>
            <a:off x="0" y="4956047"/>
            <a:ext cx="9144000" cy="187453"/>
          </a:xfrm>
          <a:prstGeom prst="rect">
            <a:avLst/>
          </a:prstGeom>
          <a:solidFill>
            <a:srgbClr val="1A2F2F"/>
          </a:solidFill>
          <a:ln w="12700">
            <a:solidFill>
              <a:srgbClr val="1A2F2F"/>
            </a:solidFill>
          </a:ln>
        </p:spPr>
        <p:txBody>
          <a:bodyPr lIns="45719" rIns="45719"/>
          <a:lstStyle/>
          <a:p>
            <a:pPr/>
          </a:p>
        </p:txBody>
      </p:sp>
      <p:sp>
        <p:nvSpPr>
          <p:cNvPr id="69" name="Text 17"/>
          <p:cNvSpPr txBox="1"/>
          <p:nvPr/>
        </p:nvSpPr>
        <p:spPr>
          <a:xfrm>
            <a:off x="411479" y="4956714"/>
            <a:ext cx="832104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7ABFB9"/>
                </a:solidFill>
              </a:defRPr>
            </a:lvl1pPr>
          </a:lstStyle>
          <a:p>
            <a:pPr/>
            <a:r>
              <a:t>Marketplace  ·  Customer Satisfaction Analysis  ·  Next Steps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AF9"/>
        </a:solidFill>
      </p:bgPr>
    </p:bg>
    <p:spTree>
      <p:nvGrpSpPr>
        <p:cNvPr id="1" name=""/>
        <p:cNvGrpSpPr/>
        <p:nvPr/>
      </p:nvGrpSpPr>
      <p:grpSpPr>
        <a:xfrm>
          <a:off x="0" y="0"/>
          <a:ext cx="0" cy="0"/>
          <a:chOff x="0" y="0"/>
          <a:chExt cx="0" cy="0"/>
        </a:xfrm>
      </p:grpSpPr>
      <p:sp>
        <p:nvSpPr>
          <p:cNvPr id="71" name="Text 0"/>
          <p:cNvSpPr txBox="1"/>
          <p:nvPr/>
        </p:nvSpPr>
        <p:spPr>
          <a:xfrm>
            <a:off x="411479" y="295183"/>
            <a:ext cx="265176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A9D8F"/>
                </a:solidFill>
              </a:defRPr>
            </a:lvl1pPr>
          </a:lstStyle>
          <a:p>
            <a:pPr/>
            <a:r>
              <a:t>Analytical next steps</a:t>
            </a:r>
          </a:p>
        </p:txBody>
      </p:sp>
      <p:sp>
        <p:nvSpPr>
          <p:cNvPr id="72" name="Text 1"/>
          <p:cNvSpPr txBox="1"/>
          <p:nvPr/>
        </p:nvSpPr>
        <p:spPr>
          <a:xfrm>
            <a:off x="365759" y="569427"/>
            <a:ext cx="8412482" cy="3533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2F2F"/>
                </a:solidFill>
              </a:defRPr>
            </a:lvl1pPr>
          </a:lstStyle>
          <a:p>
            <a:pPr/>
            <a:r>
              <a:t>Key preparation decisions</a:t>
            </a:r>
          </a:p>
        </p:txBody>
      </p:sp>
      <p:sp>
        <p:nvSpPr>
          <p:cNvPr id="73" name="Shape 2"/>
          <p:cNvSpPr/>
          <p:nvPr/>
        </p:nvSpPr>
        <p:spPr>
          <a:xfrm>
            <a:off x="365759" y="1106797"/>
            <a:ext cx="8412482" cy="1"/>
          </a:xfrm>
          <a:prstGeom prst="line">
            <a:avLst/>
          </a:prstGeom>
          <a:ln>
            <a:solidFill>
              <a:srgbClr val="C8DDD9"/>
            </a:solidFill>
          </a:ln>
        </p:spPr>
        <p:txBody>
          <a:bodyPr lIns="45719" rIns="45719"/>
          <a:lstStyle/>
          <a:p>
            <a:pPr/>
          </a:p>
        </p:txBody>
      </p:sp>
      <p:sp>
        <p:nvSpPr>
          <p:cNvPr id="74" name="Shape 16"/>
          <p:cNvSpPr/>
          <p:nvPr/>
        </p:nvSpPr>
        <p:spPr>
          <a:xfrm>
            <a:off x="0" y="4956047"/>
            <a:ext cx="9144000" cy="187453"/>
          </a:xfrm>
          <a:prstGeom prst="rect">
            <a:avLst/>
          </a:prstGeom>
          <a:solidFill>
            <a:srgbClr val="1A2F2F"/>
          </a:solidFill>
          <a:ln w="12700">
            <a:solidFill>
              <a:srgbClr val="1A2F2F"/>
            </a:solidFill>
          </a:ln>
        </p:spPr>
        <p:txBody>
          <a:bodyPr lIns="45719" rIns="45719"/>
          <a:lstStyle/>
          <a:p>
            <a:pPr/>
          </a:p>
        </p:txBody>
      </p:sp>
      <p:sp>
        <p:nvSpPr>
          <p:cNvPr id="75" name="Text 17"/>
          <p:cNvSpPr txBox="1"/>
          <p:nvPr/>
        </p:nvSpPr>
        <p:spPr>
          <a:xfrm>
            <a:off x="411479" y="4956714"/>
            <a:ext cx="832104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7ABFB9"/>
                </a:solidFill>
              </a:defRPr>
            </a:lvl1pPr>
          </a:lstStyle>
          <a:p>
            <a:pPr/>
            <a:r>
              <a:t>Marketplace  ·  Customer Satisfaction Analysis  ·  Next Steps</a:t>
            </a:r>
          </a:p>
        </p:txBody>
      </p:sp>
      <p:graphicFrame>
        <p:nvGraphicFramePr>
          <p:cNvPr id="76" name="Table 1"/>
          <p:cNvGraphicFramePr/>
          <p:nvPr/>
        </p:nvGraphicFramePr>
        <p:xfrm>
          <a:off x="512608" y="1275140"/>
          <a:ext cx="8131484" cy="2792337"/>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4002884"/>
                <a:gridCol w="4115898"/>
              </a:tblGrid>
              <a:tr h="528315">
                <a:tc>
                  <a:txBody>
                    <a:bodyPr/>
                    <a:lstStyle/>
                    <a:p>
                      <a:pPr algn="ctr">
                        <a:lnSpc>
                          <a:spcPct val="200000"/>
                        </a:lnSpc>
                        <a:defRPr sz="1800"/>
                      </a:pPr>
                      <a:r>
                        <a:rPr sz="2900">
                          <a:solidFill>
                            <a:srgbClr val="FFFFFF"/>
                          </a:solidFill>
                          <a:latin typeface="Calibri Light"/>
                          <a:ea typeface="Calibri Light"/>
                          <a:cs typeface="Calibri Light"/>
                          <a:sym typeface="Calibri Light"/>
                        </a:rPr>
                        <a:t>Step</a:t>
                      </a:r>
                    </a:p>
                  </a:txBody>
                  <a:tcPr marL="76200" marR="76200" marT="76200" marB="76200" anchor="t" anchorCtr="0" horzOverflow="overflow">
                    <a:solidFill>
                      <a:srgbClr val="4F9B8F"/>
                    </a:solidFill>
                  </a:tcPr>
                </a:tc>
                <a:tc>
                  <a:txBody>
                    <a:bodyPr/>
                    <a:lstStyle/>
                    <a:p>
                      <a:pPr algn="ctr">
                        <a:lnSpc>
                          <a:spcPct val="200000"/>
                        </a:lnSpc>
                        <a:defRPr sz="1800"/>
                      </a:pPr>
                      <a:r>
                        <a:rPr sz="2900">
                          <a:solidFill>
                            <a:srgbClr val="FFFFFF"/>
                          </a:solidFill>
                          <a:latin typeface="Calibri Light"/>
                          <a:ea typeface="Calibri Light"/>
                          <a:cs typeface="Calibri Light"/>
                          <a:sym typeface="Calibri Light"/>
                        </a:rPr>
                        <a:t>Goal</a:t>
                      </a:r>
                    </a:p>
                  </a:txBody>
                  <a:tcPr marL="76200" marR="76200" marT="76200" marB="76200" anchor="t" anchorCtr="0" horzOverflow="overflow">
                    <a:solidFill>
                      <a:srgbClr val="4F9B8F"/>
                    </a:solidFill>
                  </a:tcPr>
                </a:tc>
              </a:tr>
              <a:tr h="372520">
                <a:tc gridSpan="2">
                  <a:txBody>
                    <a:bodyPr/>
                    <a:lstStyle/>
                    <a:p>
                      <a:pPr algn="ctr">
                        <a:lnSpc>
                          <a:spcPct val="200000"/>
                        </a:lnSpc>
                        <a:defRPr sz="1800"/>
                      </a:pPr>
                      <a:r>
                        <a:rPr b="1" sz="1000">
                          <a:solidFill>
                            <a:srgbClr val="5C7270"/>
                          </a:solidFill>
                        </a:rPr>
                        <a:t>To ensure analysis reflects real customer experience without distortion from data structure or edge cases, the following steps are highlighted:</a:t>
                      </a:r>
                    </a:p>
                  </a:txBody>
                  <a:tcPr marL="0" marR="0" marT="0" marB="0" anchor="ctr" anchorCtr="0" horzOverflow="overflow">
                    <a:solidFill>
                      <a:srgbClr val="EFF7F6"/>
                    </a:solidFill>
                  </a:tcPr>
                </a:tc>
                <a:tc hMerge="1">
                  <a:tcPr/>
                </a:tc>
              </a:tr>
              <a:tr h="488182">
                <a:tc>
                  <a:txBody>
                    <a:bodyPr/>
                    <a:lstStyle/>
                    <a:p>
                      <a:pPr indent="114300" algn="l">
                        <a:defRPr sz="1800"/>
                      </a:pPr>
                      <a:r>
                        <a:rPr b="1" sz="1200">
                          <a:solidFill>
                            <a:srgbClr val="1A2F2F"/>
                          </a:solidFill>
                        </a:rPr>
                        <a:t>Joined datasets at order level 
(1 row per delivered order) </a:t>
                      </a:r>
                    </a:p>
                  </a:txBody>
                  <a:tcPr marL="0" marR="0" marT="0" marB="0" anchor="ctr" anchorCtr="0" horzOverflow="overflow">
                    <a:solidFill>
                      <a:srgbClr val="DFEEEB"/>
                    </a:solidFill>
                  </a:tcPr>
                </a:tc>
                <a:tc>
                  <a:txBody>
                    <a:bodyPr/>
                    <a:lstStyle/>
                    <a:p>
                      <a:pPr indent="63500" algn="l">
                        <a:defRPr sz="1800"/>
                      </a:pPr>
                      <a:r>
                        <a:rPr sz="1100">
                          <a:solidFill>
                            <a:srgbClr val="5C7270"/>
                          </a:solidFill>
                        </a:rPr>
                        <a:t>Avoid duplication from item-level joins  </a:t>
                      </a:r>
                    </a:p>
                  </a:txBody>
                  <a:tcPr marL="0" marR="0" marT="0" marB="0" anchor="ctr" anchorCtr="0" horzOverflow="overflow">
                    <a:solidFill>
                      <a:srgbClr val="DFEEEB"/>
                    </a:solidFill>
                  </a:tcPr>
                </a:tc>
              </a:tr>
              <a:tr h="489475">
                <a:tc>
                  <a:txBody>
                    <a:bodyPr/>
                    <a:lstStyle/>
                    <a:p>
                      <a:pPr indent="114300" algn="l">
                        <a:defRPr sz="1800"/>
                      </a:pPr>
                      <a:r>
                        <a:rPr b="1" sz="1200">
                          <a:solidFill>
                            <a:srgbClr val="1A2F2F"/>
                          </a:solidFill>
                        </a:rPr>
                        <a:t>Focused on delivered orders only</a:t>
                      </a:r>
                    </a:p>
                  </a:txBody>
                  <a:tcPr marL="0" marR="0" marT="0" marB="0" anchor="ctr" anchorCtr="0" horzOverflow="overflow">
                    <a:solidFill>
                      <a:srgbClr val="EFF7F6"/>
                    </a:solidFill>
                  </a:tcPr>
                </a:tc>
                <a:tc>
                  <a:txBody>
                    <a:bodyPr/>
                    <a:lstStyle/>
                    <a:p>
                      <a:pPr indent="63500" algn="l">
                        <a:defRPr sz="1800"/>
                      </a:pPr>
                      <a:r>
                        <a:rPr sz="1100">
                          <a:solidFill>
                            <a:srgbClr val="5C7270"/>
                          </a:solidFill>
                        </a:rPr>
                        <a:t>Be able to compare delivery and reviews.</a:t>
                      </a:r>
                    </a:p>
                  </a:txBody>
                  <a:tcPr marL="0" marR="0" marT="0" marB="0" anchor="ctr" anchorCtr="0" horzOverflow="overflow">
                    <a:solidFill>
                      <a:srgbClr val="EFF7F6"/>
                    </a:solidFill>
                  </a:tcPr>
                </a:tc>
              </a:tr>
              <a:tr h="508997">
                <a:tc>
                  <a:txBody>
                    <a:bodyPr/>
                    <a:lstStyle/>
                    <a:p>
                      <a:pPr indent="114300" algn="l">
                        <a:defRPr sz="1800"/>
                      </a:pPr>
                      <a:r>
                        <a:rPr b="1" sz="1200">
                          <a:solidFill>
                            <a:srgbClr val="1A2F2F"/>
                          </a:solidFill>
                        </a:rPr>
                        <a:t>Created delivery performance features</a:t>
                      </a:r>
                    </a:p>
                  </a:txBody>
                  <a:tcPr marL="0" marR="0" marT="0" marB="0" anchor="ctr" anchorCtr="0" horzOverflow="overflow">
                    <a:solidFill>
                      <a:srgbClr val="DFEEEB"/>
                    </a:solidFill>
                  </a:tcPr>
                </a:tc>
                <a:tc>
                  <a:txBody>
                    <a:bodyPr/>
                    <a:lstStyle/>
                    <a:p>
                      <a:pPr indent="63500" algn="l">
                        <a:defRPr sz="1100">
                          <a:solidFill>
                            <a:srgbClr val="5C7270"/>
                          </a:solidFill>
                        </a:defRPr>
                      </a:pPr>
                      <a:r>
                        <a:t>  →    </a:t>
                      </a:r>
                      <a:r>
                        <a:rPr b="1"/>
                        <a:t>delivery_delta </a:t>
                      </a:r>
                      <a:r>
                        <a:t>( know actual vs estimated delivery)</a:t>
                      </a:r>
                    </a:p>
                    <a:p>
                      <a:pPr indent="63500" algn="l">
                        <a:defRPr sz="1100">
                          <a:solidFill>
                            <a:srgbClr val="5C7270"/>
                          </a:solidFill>
                        </a:defRPr>
                      </a:pPr>
                      <a:r>
                        <a:t>  →    </a:t>
                      </a:r>
                      <a:r>
                        <a:rPr b="1"/>
                        <a:t>delivery_bucket</a:t>
                      </a:r>
                      <a:r>
                        <a:t> ( separate on-time, 1-3, 4-7, 7+ days late)</a:t>
                      </a:r>
                    </a:p>
                  </a:txBody>
                  <a:tcPr marL="0" marR="0" marT="0" marB="0" anchor="ctr" anchorCtr="0" horzOverflow="overflow">
                    <a:solidFill>
                      <a:srgbClr val="DFEEEB"/>
                    </a:solidFill>
                  </a:tcPr>
                </a:tc>
              </a:tr>
              <a:tr h="463363">
                <a:tc>
                  <a:txBody>
                    <a:bodyPr/>
                    <a:lstStyle/>
                    <a:p>
                      <a:pPr indent="114300" algn="l">
                        <a:defRPr sz="1800"/>
                      </a:pPr>
                      <a:r>
                        <a:rPr b="1" sz="1200">
                          <a:solidFill>
                            <a:srgbClr val="1A2F2F"/>
                          </a:solidFill>
                        </a:rPr>
                        <a:t>Created binary flags for analysis</a:t>
                      </a:r>
                    </a:p>
                  </a:txBody>
                  <a:tcPr marL="0" marR="0" marT="0" marB="0" anchor="ctr" anchorCtr="0" horzOverflow="overflow">
                    <a:solidFill>
                      <a:srgbClr val="EFF7F6"/>
                    </a:solidFill>
                  </a:tcPr>
                </a:tc>
                <a:tc>
                  <a:txBody>
                    <a:bodyPr/>
                    <a:lstStyle/>
                    <a:p>
                      <a:pPr indent="63500" algn="l">
                        <a:defRPr sz="1100">
                          <a:solidFill>
                            <a:srgbClr val="5C7270"/>
                          </a:solidFill>
                        </a:defRPr>
                      </a:pPr>
                      <a:r>
                        <a:t>  →    </a:t>
                      </a:r>
                      <a:r>
                        <a:rPr b="1"/>
                        <a:t>is_late </a:t>
                      </a:r>
                      <a:r>
                        <a:t>(showcase delivery impact)</a:t>
                      </a:r>
                    </a:p>
                    <a:p>
                      <a:pPr indent="63500" algn="l">
                        <a:defRPr sz="1100">
                          <a:solidFill>
                            <a:srgbClr val="5C7270"/>
                          </a:solidFill>
                        </a:defRPr>
                      </a:pPr>
                      <a:r>
                        <a:t>  →    </a:t>
                      </a:r>
                      <a:r>
                        <a:rPr b="1"/>
                        <a:t>is_bad</a:t>
                      </a:r>
                      <a:r>
                        <a:t> (showcase low satisfaction proxy)</a:t>
                      </a:r>
                    </a:p>
                  </a:txBody>
                  <a:tcPr marL="0" marR="0" marT="0" marB="0" anchor="ctr" anchorCtr="0" horzOverflow="overflow">
                    <a:solidFill>
                      <a:srgbClr val="EFF7F6"/>
                    </a:solidFill>
                  </a:tcPr>
                </a:tc>
              </a:tr>
              <a:tr h="471308">
                <a:tc>
                  <a:txBody>
                    <a:bodyPr/>
                    <a:lstStyle/>
                    <a:p>
                      <a:pPr indent="114300" algn="l">
                        <a:defRPr sz="1800"/>
                      </a:pPr>
                      <a:r>
                        <a:rPr b="1" sz="1200">
                          <a:solidFill>
                            <a:srgbClr val="1A2F2F"/>
                          </a:solidFill>
                        </a:rPr>
                        <a:t>Limited extreme delivery outliers for analysis</a:t>
                      </a:r>
                    </a:p>
                  </a:txBody>
                  <a:tcPr marL="0" marR="0" marT="0" marB="0" anchor="ctr" anchorCtr="0" horzOverflow="overflow">
                    <a:solidFill>
                      <a:srgbClr val="DFEEEB"/>
                    </a:solidFill>
                  </a:tcPr>
                </a:tc>
                <a:tc>
                  <a:txBody>
                    <a:bodyPr/>
                    <a:lstStyle/>
                    <a:p>
                      <a:pPr indent="63500" algn="l">
                        <a:defRPr sz="1800"/>
                      </a:pPr>
                      <a:r>
                        <a:rPr sz="1100">
                          <a:solidFill>
                            <a:srgbClr val="5C7270"/>
                          </a:solidFill>
                        </a:rPr>
                        <a:t>Retain most of reliable data to focus on typical customer experience.</a:t>
                      </a:r>
                    </a:p>
                  </a:txBody>
                  <a:tcPr marL="0" marR="0" marT="0" marB="0" anchor="ctr" anchorCtr="0" horzOverflow="overflow">
                    <a:solidFill>
                      <a:srgbClr val="DFEEEB"/>
                    </a:solidFill>
                  </a:tcPr>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AF9"/>
        </a:solidFill>
      </p:bgPr>
    </p:bg>
    <p:spTree>
      <p:nvGrpSpPr>
        <p:cNvPr id="1" name=""/>
        <p:cNvGrpSpPr/>
        <p:nvPr/>
      </p:nvGrpSpPr>
      <p:grpSpPr>
        <a:xfrm>
          <a:off x="0" y="0"/>
          <a:ext cx="0" cy="0"/>
          <a:chOff x="0" y="0"/>
          <a:chExt cx="0" cy="0"/>
        </a:xfrm>
      </p:grpSpPr>
      <p:sp>
        <p:nvSpPr>
          <p:cNvPr id="78" name="Text 0"/>
          <p:cNvSpPr txBox="1"/>
          <p:nvPr/>
        </p:nvSpPr>
        <p:spPr>
          <a:xfrm>
            <a:off x="411479" y="295183"/>
            <a:ext cx="265176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A9D8F"/>
                </a:solidFill>
              </a:defRPr>
            </a:lvl1pPr>
          </a:lstStyle>
          <a:p>
            <a:pPr/>
            <a:r>
              <a:t>Finding 1</a:t>
            </a:r>
          </a:p>
        </p:txBody>
      </p:sp>
      <p:sp>
        <p:nvSpPr>
          <p:cNvPr id="79" name="Text 1"/>
          <p:cNvSpPr txBox="1"/>
          <p:nvPr/>
        </p:nvSpPr>
        <p:spPr>
          <a:xfrm>
            <a:off x="365759" y="852943"/>
            <a:ext cx="8412482" cy="3533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2F2F"/>
                </a:solidFill>
              </a:defRPr>
            </a:lvl1pPr>
          </a:lstStyle>
          <a:p>
            <a:pPr/>
            <a:r>
              <a:t>Satisfaction varies significantly across the marketplace.</a:t>
            </a:r>
          </a:p>
        </p:txBody>
      </p:sp>
      <p:sp>
        <p:nvSpPr>
          <p:cNvPr id="80" name="Shape 2"/>
          <p:cNvSpPr/>
          <p:nvPr/>
        </p:nvSpPr>
        <p:spPr>
          <a:xfrm>
            <a:off x="365759" y="1572767"/>
            <a:ext cx="8412482" cy="1"/>
          </a:xfrm>
          <a:prstGeom prst="line">
            <a:avLst/>
          </a:prstGeom>
          <a:ln>
            <a:solidFill>
              <a:srgbClr val="C8DDD9"/>
            </a:solidFill>
          </a:ln>
        </p:spPr>
        <p:txBody>
          <a:bodyPr lIns="45719" rIns="45719"/>
          <a:lstStyle/>
          <a:p>
            <a:pPr/>
          </a:p>
        </p:txBody>
      </p:sp>
      <p:pic>
        <p:nvPicPr>
          <p:cNvPr id="81" name="newplot.png" descr="newplot.png"/>
          <p:cNvPicPr>
            <a:picLocks noChangeAspect="1"/>
          </p:cNvPicPr>
          <p:nvPr/>
        </p:nvPicPr>
        <p:blipFill>
          <a:blip r:embed="rId2">
            <a:extLst/>
          </a:blip>
          <a:srcRect l="0" t="0" r="3154" b="0"/>
          <a:stretch>
            <a:fillRect/>
          </a:stretch>
        </p:blipFill>
        <p:spPr>
          <a:xfrm>
            <a:off x="720654" y="2079191"/>
            <a:ext cx="4772933" cy="2534606"/>
          </a:xfrm>
          <a:prstGeom prst="rect">
            <a:avLst/>
          </a:prstGeom>
          <a:ln w="12700">
            <a:solidFill>
              <a:srgbClr val="B2D8D3"/>
            </a:solidFill>
          </a:ln>
        </p:spPr>
      </p:pic>
      <p:sp>
        <p:nvSpPr>
          <p:cNvPr id="82" name="Text 4"/>
          <p:cNvSpPr txBox="1"/>
          <p:nvPr/>
        </p:nvSpPr>
        <p:spPr>
          <a:xfrm>
            <a:off x="548639" y="1808138"/>
            <a:ext cx="475488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5C7270"/>
                </a:solidFill>
              </a:defRPr>
            </a:lvl1pPr>
          </a:lstStyle>
          <a:p>
            <a:pPr/>
            <a:r>
              <a:t>Average Review Score by Category</a:t>
            </a:r>
          </a:p>
        </p:txBody>
      </p:sp>
      <p:sp>
        <p:nvSpPr>
          <p:cNvPr id="83" name="Text 6"/>
          <p:cNvSpPr txBox="1"/>
          <p:nvPr/>
        </p:nvSpPr>
        <p:spPr>
          <a:xfrm>
            <a:off x="5760720" y="1785090"/>
            <a:ext cx="3017521" cy="6543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5200">
                <a:solidFill>
                  <a:srgbClr val="2A9D8F"/>
                </a:solidFill>
              </a:defRPr>
            </a:lvl1pPr>
          </a:lstStyle>
          <a:p>
            <a:pPr/>
            <a:r>
              <a:t>4.15</a:t>
            </a:r>
          </a:p>
        </p:txBody>
      </p:sp>
      <p:sp>
        <p:nvSpPr>
          <p:cNvPr id="84" name="Text 7"/>
          <p:cNvSpPr txBox="1"/>
          <p:nvPr/>
        </p:nvSpPr>
        <p:spPr>
          <a:xfrm>
            <a:off x="5806440" y="2491784"/>
            <a:ext cx="2926081" cy="2285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C7270"/>
                </a:solidFill>
              </a:defRPr>
            </a:lvl1pPr>
          </a:lstStyle>
          <a:p>
            <a:pPr/>
            <a:r>
              <a:t>overall avg score</a:t>
            </a:r>
          </a:p>
        </p:txBody>
      </p:sp>
      <p:sp>
        <p:nvSpPr>
          <p:cNvPr id="85" name="Shape 8"/>
          <p:cNvSpPr/>
          <p:nvPr/>
        </p:nvSpPr>
        <p:spPr>
          <a:xfrm>
            <a:off x="6035040" y="2834639"/>
            <a:ext cx="2468881" cy="1"/>
          </a:xfrm>
          <a:prstGeom prst="line">
            <a:avLst/>
          </a:prstGeom>
          <a:ln>
            <a:solidFill>
              <a:srgbClr val="C8DDD9"/>
            </a:solidFill>
          </a:ln>
        </p:spPr>
        <p:txBody>
          <a:bodyPr lIns="45719" rIns="45719"/>
          <a:lstStyle/>
          <a:p>
            <a:pPr/>
          </a:p>
        </p:txBody>
      </p:sp>
      <p:sp>
        <p:nvSpPr>
          <p:cNvPr id="86" name="Text 9"/>
          <p:cNvSpPr txBox="1"/>
          <p:nvPr/>
        </p:nvSpPr>
        <p:spPr>
          <a:xfrm>
            <a:off x="5806440" y="2975663"/>
            <a:ext cx="292608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1A2F2F"/>
                </a:solidFill>
              </a:defRPr>
            </a:lvl1pPr>
          </a:lstStyle>
          <a:p>
            <a:pPr/>
            <a:r>
              <a:t>NPS proxy: 66.1%</a:t>
            </a:r>
          </a:p>
        </p:txBody>
      </p:sp>
      <p:sp>
        <p:nvSpPr>
          <p:cNvPr id="87" name="Text 10"/>
          <p:cNvSpPr txBox="1"/>
          <p:nvPr/>
        </p:nvSpPr>
        <p:spPr>
          <a:xfrm>
            <a:off x="5806440" y="3287058"/>
            <a:ext cx="2926081"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5C7270"/>
                </a:solidFill>
              </a:defRPr>
            </a:pPr>
            <a:r>
              <a:t>Score range: 3.66 → 4.55</a:t>
            </a:r>
          </a:p>
          <a:p>
            <a:pPr algn="ctr">
              <a:defRPr sz="1000">
                <a:solidFill>
                  <a:srgbClr val="5C7270"/>
                </a:solidFill>
              </a:defRPr>
            </a:pPr>
            <a:r>
              <a:t>across categories</a:t>
            </a:r>
          </a:p>
        </p:txBody>
      </p:sp>
      <p:sp>
        <p:nvSpPr>
          <p:cNvPr id="88" name="Shape 11"/>
          <p:cNvSpPr/>
          <p:nvPr/>
        </p:nvSpPr>
        <p:spPr>
          <a:xfrm>
            <a:off x="6035040" y="3767328"/>
            <a:ext cx="2468881" cy="1"/>
          </a:xfrm>
          <a:prstGeom prst="line">
            <a:avLst/>
          </a:prstGeom>
          <a:ln>
            <a:solidFill>
              <a:srgbClr val="C8DDD9"/>
            </a:solidFill>
          </a:ln>
        </p:spPr>
        <p:txBody>
          <a:bodyPr lIns="45719" rIns="45719"/>
          <a:lstStyle/>
          <a:p>
            <a:pPr/>
          </a:p>
        </p:txBody>
      </p:sp>
      <p:sp>
        <p:nvSpPr>
          <p:cNvPr id="89" name="Text 12"/>
          <p:cNvSpPr txBox="1"/>
          <p:nvPr/>
        </p:nvSpPr>
        <p:spPr>
          <a:xfrm>
            <a:off x="5806440" y="3858767"/>
            <a:ext cx="2926081" cy="3936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000">
                <a:solidFill>
                  <a:srgbClr val="C1432A"/>
                </a:solidFill>
              </a:defRPr>
            </a:pPr>
            <a:r>
              <a:t>Bottom: </a:t>
            </a:r>
            <a:r>
              <a:rPr b="0">
                <a:solidFill>
                  <a:srgbClr val="1A2F2F"/>
                </a:solidFill>
              </a:rPr>
              <a:t>office_furniture, audio, home_comfort</a:t>
            </a:r>
            <a:endParaRPr b="0">
              <a:solidFill>
                <a:srgbClr val="1A2F2F"/>
              </a:solidFill>
            </a:endParaRPr>
          </a:p>
          <a:p>
            <a:pPr algn="ctr">
              <a:defRPr b="1" sz="1000">
                <a:solidFill>
                  <a:srgbClr val="C1432A"/>
                </a:solidFill>
              </a:defRPr>
            </a:pPr>
            <a:r>
              <a:rPr>
                <a:solidFill>
                  <a:srgbClr val="57C494"/>
                </a:solidFill>
              </a:rPr>
              <a:t>Top: </a:t>
            </a:r>
            <a:r>
              <a:rPr b="0">
                <a:solidFill>
                  <a:srgbClr val="1A2F2F"/>
                </a:solidFill>
              </a:rPr>
              <a:t>books, food_drink</a:t>
            </a:r>
          </a:p>
        </p:txBody>
      </p:sp>
      <p:sp>
        <p:nvSpPr>
          <p:cNvPr id="90" name="Shape 13"/>
          <p:cNvSpPr/>
          <p:nvPr/>
        </p:nvSpPr>
        <p:spPr>
          <a:xfrm>
            <a:off x="0" y="4956047"/>
            <a:ext cx="9144000" cy="187453"/>
          </a:xfrm>
          <a:prstGeom prst="rect">
            <a:avLst/>
          </a:prstGeom>
          <a:solidFill>
            <a:srgbClr val="1A2F2F"/>
          </a:solidFill>
          <a:ln w="12700">
            <a:solidFill>
              <a:srgbClr val="1A2F2F"/>
            </a:solidFill>
          </a:ln>
        </p:spPr>
        <p:txBody>
          <a:bodyPr lIns="45719" rIns="45719"/>
          <a:lstStyle/>
          <a:p>
            <a:pPr/>
          </a:p>
        </p:txBody>
      </p:sp>
      <p:sp>
        <p:nvSpPr>
          <p:cNvPr id="91" name="Text 14"/>
          <p:cNvSpPr txBox="1"/>
          <p:nvPr/>
        </p:nvSpPr>
        <p:spPr>
          <a:xfrm>
            <a:off x="411479" y="4956714"/>
            <a:ext cx="832104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7ABFB9"/>
                </a:solidFill>
              </a:defRPr>
            </a:lvl1pPr>
          </a:lstStyle>
          <a:p>
            <a:pPr/>
            <a:r>
              <a:t>Marketplace  ·  Customer Satisfaction Analysis  ·  Finding 1: Satisfaction Landscape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AF9"/>
        </a:solidFill>
      </p:bgPr>
    </p:bg>
    <p:spTree>
      <p:nvGrpSpPr>
        <p:cNvPr id="1" name=""/>
        <p:cNvGrpSpPr/>
        <p:nvPr/>
      </p:nvGrpSpPr>
      <p:grpSpPr>
        <a:xfrm>
          <a:off x="0" y="0"/>
          <a:ext cx="0" cy="0"/>
          <a:chOff x="0" y="0"/>
          <a:chExt cx="0" cy="0"/>
        </a:xfrm>
      </p:grpSpPr>
      <p:sp>
        <p:nvSpPr>
          <p:cNvPr id="93" name="Text 0"/>
          <p:cNvSpPr txBox="1"/>
          <p:nvPr/>
        </p:nvSpPr>
        <p:spPr>
          <a:xfrm>
            <a:off x="411479" y="295183"/>
            <a:ext cx="265176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A9D8F"/>
                </a:solidFill>
              </a:defRPr>
            </a:lvl1pPr>
          </a:lstStyle>
          <a:p>
            <a:pPr/>
            <a:r>
              <a:t>Finding 2</a:t>
            </a:r>
          </a:p>
        </p:txBody>
      </p:sp>
      <p:sp>
        <p:nvSpPr>
          <p:cNvPr id="94" name="Text 1"/>
          <p:cNvSpPr txBox="1"/>
          <p:nvPr/>
        </p:nvSpPr>
        <p:spPr>
          <a:xfrm>
            <a:off x="365759" y="637043"/>
            <a:ext cx="8412482" cy="7851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A2F2F"/>
                </a:solidFill>
              </a:defRPr>
            </a:lvl1pPr>
          </a:lstStyle>
          <a:p>
            <a:pPr/>
            <a:r>
              <a:t>Delivery performance is the primary driver of satisfaction.</a:t>
            </a:r>
          </a:p>
        </p:txBody>
      </p:sp>
      <p:sp>
        <p:nvSpPr>
          <p:cNvPr id="95" name="Shape 2"/>
          <p:cNvSpPr/>
          <p:nvPr/>
        </p:nvSpPr>
        <p:spPr>
          <a:xfrm>
            <a:off x="365759" y="1572767"/>
            <a:ext cx="8412482" cy="1"/>
          </a:xfrm>
          <a:prstGeom prst="line">
            <a:avLst/>
          </a:prstGeom>
          <a:ln>
            <a:solidFill>
              <a:srgbClr val="C8DDD9"/>
            </a:solidFill>
          </a:ln>
        </p:spPr>
        <p:txBody>
          <a:bodyPr lIns="45719" rIns="45719"/>
          <a:lstStyle/>
          <a:p>
            <a:pPr/>
          </a:p>
        </p:txBody>
      </p:sp>
      <p:sp>
        <p:nvSpPr>
          <p:cNvPr id="96" name="Text 3"/>
          <p:cNvSpPr txBox="1"/>
          <p:nvPr/>
        </p:nvSpPr>
        <p:spPr>
          <a:xfrm>
            <a:off x="365759" y="1821537"/>
            <a:ext cx="2926082" cy="1020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0">
                <a:solidFill>
                  <a:srgbClr val="2A9D8F"/>
                </a:solidFill>
              </a:defRPr>
            </a:lvl1pPr>
          </a:lstStyle>
          <a:p>
            <a:pPr/>
            <a:r>
              <a:t>2.59</a:t>
            </a:r>
          </a:p>
        </p:txBody>
      </p:sp>
      <p:sp>
        <p:nvSpPr>
          <p:cNvPr id="97" name="Text 4"/>
          <p:cNvSpPr txBox="1"/>
          <p:nvPr/>
        </p:nvSpPr>
        <p:spPr>
          <a:xfrm>
            <a:off x="411479" y="2926133"/>
            <a:ext cx="2834642" cy="4388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5C7270"/>
                </a:solidFill>
              </a:defRPr>
            </a:pPr>
            <a:r>
              <a:t>point drop in avg score</a:t>
            </a:r>
          </a:p>
          <a:p>
            <a:pPr>
              <a:defRPr sz="1200">
                <a:solidFill>
                  <a:srgbClr val="5C7270"/>
                </a:solidFill>
              </a:defRPr>
            </a:pPr>
            <a:r>
              <a:t>from on-time to 7+ days late</a:t>
            </a:r>
          </a:p>
        </p:txBody>
      </p:sp>
      <p:sp>
        <p:nvSpPr>
          <p:cNvPr id="98" name="Text 5"/>
          <p:cNvSpPr txBox="1"/>
          <p:nvPr/>
        </p:nvSpPr>
        <p:spPr>
          <a:xfrm>
            <a:off x="411479" y="3463624"/>
            <a:ext cx="2834642"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a:solidFill>
                  <a:srgbClr val="57C494"/>
                </a:solidFill>
              </a:defRPr>
            </a:pPr>
            <a:r>
              <a:t>4.29</a:t>
            </a:r>
            <a:r>
              <a:rPr b="0" sz="1400">
                <a:solidFill>
                  <a:srgbClr val="5C7270"/>
                </a:solidFill>
              </a:rPr>
              <a:t>  →  </a:t>
            </a:r>
            <a:r>
              <a:rPr>
                <a:solidFill>
                  <a:srgbClr val="C1432A"/>
                </a:solidFill>
              </a:rPr>
              <a:t>1.70</a:t>
            </a:r>
          </a:p>
        </p:txBody>
      </p:sp>
      <p:sp>
        <p:nvSpPr>
          <p:cNvPr id="99" name="Text 6"/>
          <p:cNvSpPr txBox="1"/>
          <p:nvPr/>
        </p:nvSpPr>
        <p:spPr>
          <a:xfrm>
            <a:off x="411479" y="3788191"/>
            <a:ext cx="283464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5C7270"/>
                </a:solidFill>
              </a:defRPr>
            </a:lvl1pPr>
          </a:lstStyle>
          <a:p>
            <a:pPr/>
            <a:r>
              <a:t>on-time avg        7+ days late avg</a:t>
            </a:r>
          </a:p>
        </p:txBody>
      </p:sp>
      <p:sp>
        <p:nvSpPr>
          <p:cNvPr id="100" name="Shape 7"/>
          <p:cNvSpPr/>
          <p:nvPr/>
        </p:nvSpPr>
        <p:spPr>
          <a:xfrm>
            <a:off x="365759" y="4059935"/>
            <a:ext cx="2926082" cy="1"/>
          </a:xfrm>
          <a:prstGeom prst="line">
            <a:avLst/>
          </a:prstGeom>
          <a:ln>
            <a:solidFill>
              <a:srgbClr val="C8DDD9"/>
            </a:solidFill>
          </a:ln>
        </p:spPr>
        <p:txBody>
          <a:bodyPr lIns="45719" rIns="45719"/>
          <a:lstStyle/>
          <a:p>
            <a:pPr/>
          </a:p>
        </p:txBody>
      </p:sp>
      <p:sp>
        <p:nvSpPr>
          <p:cNvPr id="101" name="Text 8"/>
          <p:cNvSpPr txBox="1"/>
          <p:nvPr/>
        </p:nvSpPr>
        <p:spPr>
          <a:xfrm>
            <a:off x="411479" y="4198025"/>
            <a:ext cx="2834642" cy="3456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7270"/>
                </a:solidFill>
              </a:defRPr>
            </a:lvl1pPr>
          </a:lstStyle>
          <a:p>
            <a:pPr/>
            <a:r>
              <a:t>Late orders: 6.8% of volume · 33% of bad reviews · 4.9× more likely among 1-2 star reviews</a:t>
            </a:r>
          </a:p>
        </p:txBody>
      </p:sp>
      <p:sp>
        <p:nvSpPr>
          <p:cNvPr id="102" name="Shape 9"/>
          <p:cNvSpPr/>
          <p:nvPr/>
        </p:nvSpPr>
        <p:spPr>
          <a:xfrm flipH="1">
            <a:off x="3547871" y="1700783"/>
            <a:ext cx="1" cy="3017522"/>
          </a:xfrm>
          <a:prstGeom prst="line">
            <a:avLst/>
          </a:prstGeom>
          <a:ln>
            <a:solidFill>
              <a:srgbClr val="C8DDD9"/>
            </a:solidFill>
          </a:ln>
        </p:spPr>
        <p:txBody>
          <a:bodyPr lIns="45719" rIns="45719"/>
          <a:lstStyle/>
          <a:p>
            <a:pPr/>
          </a:p>
        </p:txBody>
      </p:sp>
      <p:pic>
        <p:nvPicPr>
          <p:cNvPr id="103" name="newplot-3.png" descr="newplot-3.png"/>
          <p:cNvPicPr>
            <a:picLocks noChangeAspect="1"/>
          </p:cNvPicPr>
          <p:nvPr/>
        </p:nvPicPr>
        <p:blipFill>
          <a:blip r:embed="rId2">
            <a:extLst/>
          </a:blip>
          <a:stretch>
            <a:fillRect/>
          </a:stretch>
        </p:blipFill>
        <p:spPr>
          <a:xfrm>
            <a:off x="3938087" y="2258016"/>
            <a:ext cx="4651261" cy="2392078"/>
          </a:xfrm>
          <a:prstGeom prst="rect">
            <a:avLst/>
          </a:prstGeom>
          <a:ln w="12700">
            <a:solidFill>
              <a:srgbClr val="B2D8D3"/>
            </a:solidFill>
          </a:ln>
        </p:spPr>
      </p:pic>
      <p:sp>
        <p:nvSpPr>
          <p:cNvPr id="104" name="Text 11"/>
          <p:cNvSpPr txBox="1"/>
          <p:nvPr/>
        </p:nvSpPr>
        <p:spPr>
          <a:xfrm>
            <a:off x="3931920" y="1808138"/>
            <a:ext cx="4663440"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5C7270"/>
                </a:solidFill>
              </a:defRPr>
            </a:lvl1pPr>
          </a:lstStyle>
          <a:p>
            <a:pPr/>
            <a:r>
              <a:t>Review Score Distribution Within Each Delivery Bucket</a:t>
            </a:r>
          </a:p>
        </p:txBody>
      </p:sp>
      <p:sp>
        <p:nvSpPr>
          <p:cNvPr id="105" name="Shape 13"/>
          <p:cNvSpPr/>
          <p:nvPr/>
        </p:nvSpPr>
        <p:spPr>
          <a:xfrm>
            <a:off x="0" y="4956047"/>
            <a:ext cx="9144000" cy="187453"/>
          </a:xfrm>
          <a:prstGeom prst="rect">
            <a:avLst/>
          </a:prstGeom>
          <a:solidFill>
            <a:srgbClr val="1A2F2F"/>
          </a:solidFill>
          <a:ln w="12700">
            <a:solidFill>
              <a:srgbClr val="1A2F2F"/>
            </a:solidFill>
          </a:ln>
        </p:spPr>
        <p:txBody>
          <a:bodyPr lIns="45719" rIns="45719"/>
          <a:lstStyle/>
          <a:p>
            <a:pPr/>
          </a:p>
        </p:txBody>
      </p:sp>
      <p:sp>
        <p:nvSpPr>
          <p:cNvPr id="106" name="Text 14"/>
          <p:cNvSpPr txBox="1"/>
          <p:nvPr/>
        </p:nvSpPr>
        <p:spPr>
          <a:xfrm>
            <a:off x="411479" y="4956714"/>
            <a:ext cx="832104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7ABFB9"/>
                </a:solidFill>
              </a:defRPr>
            </a:lvl1pPr>
          </a:lstStyle>
          <a:p>
            <a:pPr/>
            <a:r>
              <a:t>Marketplace  ·  Customer Satisfaction Analysis  ·  Finding 2: Delivery Performance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F2F"/>
        </a:solidFill>
      </p:bgPr>
    </p:bg>
    <p:spTree>
      <p:nvGrpSpPr>
        <p:cNvPr id="1" name=""/>
        <p:cNvGrpSpPr/>
        <p:nvPr/>
      </p:nvGrpSpPr>
      <p:grpSpPr>
        <a:xfrm>
          <a:off x="0" y="0"/>
          <a:ext cx="0" cy="0"/>
          <a:chOff x="0" y="0"/>
          <a:chExt cx="0" cy="0"/>
        </a:xfrm>
      </p:grpSpPr>
      <p:sp>
        <p:nvSpPr>
          <p:cNvPr id="108" name="Text 0"/>
          <p:cNvSpPr txBox="1"/>
          <p:nvPr/>
        </p:nvSpPr>
        <p:spPr>
          <a:xfrm>
            <a:off x="411479" y="295183"/>
            <a:ext cx="265176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A9D8F"/>
                </a:solidFill>
              </a:defRPr>
            </a:lvl1pPr>
          </a:lstStyle>
          <a:p>
            <a:pPr/>
            <a:r>
              <a:t>Finding 3</a:t>
            </a:r>
          </a:p>
        </p:txBody>
      </p:sp>
      <p:sp>
        <p:nvSpPr>
          <p:cNvPr id="109" name="Text 1"/>
          <p:cNvSpPr txBox="1"/>
          <p:nvPr/>
        </p:nvSpPr>
        <p:spPr>
          <a:xfrm>
            <a:off x="365759" y="719452"/>
            <a:ext cx="8412482" cy="3533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defRPr>
            </a:lvl1pPr>
          </a:lstStyle>
          <a:p>
            <a:pPr/>
            <a:r>
              <a:t>Seller performance variation is the mechanism.</a:t>
            </a:r>
          </a:p>
        </p:txBody>
      </p:sp>
      <p:sp>
        <p:nvSpPr>
          <p:cNvPr id="110" name="Shape 2"/>
          <p:cNvSpPr/>
          <p:nvPr/>
        </p:nvSpPr>
        <p:spPr>
          <a:xfrm>
            <a:off x="365759" y="1316736"/>
            <a:ext cx="8412482" cy="1"/>
          </a:xfrm>
          <a:prstGeom prst="line">
            <a:avLst/>
          </a:prstGeom>
          <a:ln>
            <a:solidFill>
              <a:srgbClr val="2A4A48"/>
            </a:solidFill>
          </a:ln>
        </p:spPr>
        <p:txBody>
          <a:bodyPr lIns="45719" rIns="45719"/>
          <a:lstStyle/>
          <a:p>
            <a:pPr/>
          </a:p>
        </p:txBody>
      </p:sp>
      <p:sp>
        <p:nvSpPr>
          <p:cNvPr id="111" name="Text 3"/>
          <p:cNvSpPr txBox="1"/>
          <p:nvPr/>
        </p:nvSpPr>
        <p:spPr>
          <a:xfrm>
            <a:off x="365759" y="1543384"/>
            <a:ext cx="841248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4"/>
                </a:solidFill>
              </a:defRPr>
            </a:lvl1pPr>
          </a:lstStyle>
          <a:p>
            <a:pPr/>
            <a:r>
              <a:t>57.3% of orders flow through the weaker half of sellers.</a:t>
            </a:r>
          </a:p>
        </p:txBody>
      </p:sp>
      <p:sp>
        <p:nvSpPr>
          <p:cNvPr id="112" name="Text 4"/>
          <p:cNvSpPr txBox="1"/>
          <p:nvPr/>
        </p:nvSpPr>
        <p:spPr>
          <a:xfrm>
            <a:off x="365759" y="1914959"/>
            <a:ext cx="841248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7ABFB9"/>
                </a:solidFill>
              </a:defRPr>
            </a:lvl1pPr>
          </a:lstStyle>
          <a:p>
            <a:pPr/>
            <a:r>
              <a:t>This is a systemic exposure problem, not an edge case.</a:t>
            </a:r>
          </a:p>
        </p:txBody>
      </p:sp>
      <p:pic>
        <p:nvPicPr>
          <p:cNvPr id="113" name="newplot-2.png" descr="newplot-2.png"/>
          <p:cNvPicPr>
            <a:picLocks noChangeAspect="1"/>
          </p:cNvPicPr>
          <p:nvPr/>
        </p:nvPicPr>
        <p:blipFill>
          <a:blip r:embed="rId2">
            <a:extLst/>
          </a:blip>
          <a:srcRect l="482" t="0" r="23" b="1980"/>
          <a:stretch>
            <a:fillRect/>
          </a:stretch>
        </p:blipFill>
        <p:spPr>
          <a:xfrm>
            <a:off x="654923" y="2677472"/>
            <a:ext cx="4267854" cy="2162364"/>
          </a:xfrm>
          <a:prstGeom prst="rect">
            <a:avLst/>
          </a:prstGeom>
          <a:ln w="12700">
            <a:solidFill>
              <a:srgbClr val="2A4A48"/>
            </a:solidFill>
          </a:ln>
        </p:spPr>
      </p:pic>
      <p:sp>
        <p:nvSpPr>
          <p:cNvPr id="114" name="Text 6"/>
          <p:cNvSpPr txBox="1"/>
          <p:nvPr/>
        </p:nvSpPr>
        <p:spPr>
          <a:xfrm>
            <a:off x="548639" y="2411642"/>
            <a:ext cx="448056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5A8A86"/>
                </a:solidFill>
              </a:defRPr>
            </a:lvl1pPr>
          </a:lstStyle>
          <a:p>
            <a:pPr/>
            <a:r>
              <a:t>Seller Late Rate vs Avg Score</a:t>
            </a:r>
          </a:p>
        </p:txBody>
      </p:sp>
      <p:sp>
        <p:nvSpPr>
          <p:cNvPr id="115" name="Text 9"/>
          <p:cNvSpPr txBox="1"/>
          <p:nvPr/>
        </p:nvSpPr>
        <p:spPr>
          <a:xfrm>
            <a:off x="6858000" y="2327192"/>
            <a:ext cx="8229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57C494"/>
                </a:solidFill>
              </a:defRPr>
            </a:lvl1pPr>
          </a:lstStyle>
          <a:p>
            <a:pPr/>
            <a:r>
              <a:t>High</a:t>
            </a:r>
          </a:p>
        </p:txBody>
      </p:sp>
      <p:sp>
        <p:nvSpPr>
          <p:cNvPr id="116" name="Text 10"/>
          <p:cNvSpPr txBox="1"/>
          <p:nvPr/>
        </p:nvSpPr>
        <p:spPr>
          <a:xfrm>
            <a:off x="7818119" y="2327192"/>
            <a:ext cx="9601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C1432A"/>
                </a:solidFill>
              </a:defRPr>
            </a:lvl1pPr>
          </a:lstStyle>
          <a:p>
            <a:pPr/>
            <a:r>
              <a:t>Low</a:t>
            </a:r>
          </a:p>
        </p:txBody>
      </p:sp>
      <p:sp>
        <p:nvSpPr>
          <p:cNvPr id="117" name="Shape 11"/>
          <p:cNvSpPr/>
          <p:nvPr/>
        </p:nvSpPr>
        <p:spPr>
          <a:xfrm>
            <a:off x="5394959" y="2596895"/>
            <a:ext cx="2514601" cy="1"/>
          </a:xfrm>
          <a:prstGeom prst="line">
            <a:avLst/>
          </a:prstGeom>
          <a:ln>
            <a:solidFill>
              <a:srgbClr val="2A4A48"/>
            </a:solidFill>
          </a:ln>
        </p:spPr>
        <p:txBody>
          <a:bodyPr lIns="45719" rIns="45719"/>
          <a:lstStyle/>
          <a:p>
            <a:pPr/>
          </a:p>
        </p:txBody>
      </p:sp>
      <p:sp>
        <p:nvSpPr>
          <p:cNvPr id="118" name="Text 12"/>
          <p:cNvSpPr txBox="1"/>
          <p:nvPr/>
        </p:nvSpPr>
        <p:spPr>
          <a:xfrm>
            <a:off x="5440679" y="2813979"/>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7ABFB9"/>
                </a:solidFill>
              </a:defRPr>
            </a:lvl1pPr>
          </a:lstStyle>
          <a:p>
            <a:pPr/>
            <a:r>
              <a:t>Avg review score</a:t>
            </a:r>
          </a:p>
        </p:txBody>
      </p:sp>
      <p:sp>
        <p:nvSpPr>
          <p:cNvPr id="119" name="Text 13"/>
          <p:cNvSpPr txBox="1"/>
          <p:nvPr/>
        </p:nvSpPr>
        <p:spPr>
          <a:xfrm>
            <a:off x="6858000" y="2802680"/>
            <a:ext cx="8229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57C494"/>
                </a:solidFill>
              </a:defRPr>
            </a:lvl1pPr>
          </a:lstStyle>
          <a:p>
            <a:pPr/>
            <a:r>
              <a:t>4.39</a:t>
            </a:r>
          </a:p>
        </p:txBody>
      </p:sp>
      <p:sp>
        <p:nvSpPr>
          <p:cNvPr id="120" name="Text 14"/>
          <p:cNvSpPr txBox="1"/>
          <p:nvPr/>
        </p:nvSpPr>
        <p:spPr>
          <a:xfrm>
            <a:off x="7818119" y="2802680"/>
            <a:ext cx="9601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76143"/>
                </a:solidFill>
              </a:defRPr>
            </a:lvl1pPr>
          </a:lstStyle>
          <a:p>
            <a:pPr/>
            <a:r>
              <a:t>4.00</a:t>
            </a:r>
          </a:p>
        </p:txBody>
      </p:sp>
      <p:sp>
        <p:nvSpPr>
          <p:cNvPr id="121" name="Shape 15"/>
          <p:cNvSpPr/>
          <p:nvPr/>
        </p:nvSpPr>
        <p:spPr>
          <a:xfrm>
            <a:off x="5394959" y="3108960"/>
            <a:ext cx="2514601" cy="1"/>
          </a:xfrm>
          <a:prstGeom prst="line">
            <a:avLst/>
          </a:prstGeom>
          <a:ln w="6350">
            <a:solidFill>
              <a:srgbClr val="1E3535"/>
            </a:solidFill>
          </a:ln>
        </p:spPr>
        <p:txBody>
          <a:bodyPr lIns="45719" rIns="45719"/>
          <a:lstStyle/>
          <a:p>
            <a:pPr/>
          </a:p>
        </p:txBody>
      </p:sp>
      <p:sp>
        <p:nvSpPr>
          <p:cNvPr id="122" name="Text 16"/>
          <p:cNvSpPr txBox="1"/>
          <p:nvPr/>
        </p:nvSpPr>
        <p:spPr>
          <a:xfrm>
            <a:off x="5440679" y="3216315"/>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7ABFB9"/>
                </a:solidFill>
              </a:defRPr>
            </a:lvl1pPr>
          </a:lstStyle>
          <a:p>
            <a:pPr/>
            <a:r>
              <a:t>% 5-star reviews</a:t>
            </a:r>
          </a:p>
        </p:txBody>
      </p:sp>
      <p:sp>
        <p:nvSpPr>
          <p:cNvPr id="123" name="Text 17"/>
          <p:cNvSpPr txBox="1"/>
          <p:nvPr/>
        </p:nvSpPr>
        <p:spPr>
          <a:xfrm>
            <a:off x="6858000" y="3205016"/>
            <a:ext cx="8229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57C494"/>
                </a:solidFill>
              </a:defRPr>
            </a:lvl1pPr>
          </a:lstStyle>
          <a:p>
            <a:pPr/>
            <a:r>
              <a:t>66.9%</a:t>
            </a:r>
          </a:p>
        </p:txBody>
      </p:sp>
      <p:sp>
        <p:nvSpPr>
          <p:cNvPr id="124" name="Text 18"/>
          <p:cNvSpPr txBox="1"/>
          <p:nvPr/>
        </p:nvSpPr>
        <p:spPr>
          <a:xfrm>
            <a:off x="7818119" y="3205016"/>
            <a:ext cx="9601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76143"/>
                </a:solidFill>
              </a:defRPr>
            </a:lvl1pPr>
          </a:lstStyle>
          <a:p>
            <a:pPr/>
            <a:r>
              <a:t>54.0%</a:t>
            </a:r>
          </a:p>
        </p:txBody>
      </p:sp>
      <p:sp>
        <p:nvSpPr>
          <p:cNvPr id="125" name="Shape 19"/>
          <p:cNvSpPr/>
          <p:nvPr/>
        </p:nvSpPr>
        <p:spPr>
          <a:xfrm>
            <a:off x="5394959" y="3511296"/>
            <a:ext cx="2514601" cy="1"/>
          </a:xfrm>
          <a:prstGeom prst="line">
            <a:avLst/>
          </a:prstGeom>
          <a:ln w="6350">
            <a:solidFill>
              <a:srgbClr val="1E3535"/>
            </a:solidFill>
          </a:ln>
        </p:spPr>
        <p:txBody>
          <a:bodyPr lIns="45719" rIns="45719"/>
          <a:lstStyle/>
          <a:p>
            <a:pPr/>
          </a:p>
        </p:txBody>
      </p:sp>
      <p:sp>
        <p:nvSpPr>
          <p:cNvPr id="126" name="Text 20"/>
          <p:cNvSpPr txBox="1"/>
          <p:nvPr/>
        </p:nvSpPr>
        <p:spPr>
          <a:xfrm>
            <a:off x="5440679" y="3618650"/>
            <a:ext cx="128016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7ABFB9"/>
                </a:solidFill>
              </a:defRPr>
            </a:lvl1pPr>
          </a:lstStyle>
          <a:p>
            <a:pPr/>
            <a:r>
              <a:t>% 1-star reviews</a:t>
            </a:r>
          </a:p>
        </p:txBody>
      </p:sp>
      <p:sp>
        <p:nvSpPr>
          <p:cNvPr id="127" name="Text 21"/>
          <p:cNvSpPr txBox="1"/>
          <p:nvPr/>
        </p:nvSpPr>
        <p:spPr>
          <a:xfrm>
            <a:off x="6858000" y="3607352"/>
            <a:ext cx="8229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57C494"/>
                </a:solidFill>
              </a:defRPr>
            </a:lvl1pPr>
          </a:lstStyle>
          <a:p>
            <a:pPr/>
            <a:r>
              <a:t>5.7%</a:t>
            </a:r>
          </a:p>
        </p:txBody>
      </p:sp>
      <p:sp>
        <p:nvSpPr>
          <p:cNvPr id="128" name="Text 22"/>
          <p:cNvSpPr txBox="1"/>
          <p:nvPr/>
        </p:nvSpPr>
        <p:spPr>
          <a:xfrm>
            <a:off x="7818119" y="3607352"/>
            <a:ext cx="9601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76143"/>
                </a:solidFill>
              </a:defRPr>
            </a:lvl1pPr>
          </a:lstStyle>
          <a:p>
            <a:pPr/>
            <a:r>
              <a:t>12.4%</a:t>
            </a:r>
          </a:p>
        </p:txBody>
      </p:sp>
      <p:sp>
        <p:nvSpPr>
          <p:cNvPr id="129" name="Shape 23"/>
          <p:cNvSpPr/>
          <p:nvPr/>
        </p:nvSpPr>
        <p:spPr>
          <a:xfrm>
            <a:off x="5394959" y="3913632"/>
            <a:ext cx="2514601" cy="1"/>
          </a:xfrm>
          <a:prstGeom prst="line">
            <a:avLst/>
          </a:prstGeom>
          <a:ln w="6350">
            <a:solidFill>
              <a:srgbClr val="1E3535"/>
            </a:solidFill>
          </a:ln>
        </p:spPr>
        <p:txBody>
          <a:bodyPr lIns="45719" rIns="45719"/>
          <a:lstStyle/>
          <a:p>
            <a:pPr/>
          </a:p>
        </p:txBody>
      </p:sp>
      <p:sp>
        <p:nvSpPr>
          <p:cNvPr id="130" name="Text 24"/>
          <p:cNvSpPr txBox="1"/>
          <p:nvPr/>
        </p:nvSpPr>
        <p:spPr>
          <a:xfrm>
            <a:off x="5440679" y="4020987"/>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7ABFB9"/>
                </a:solidFill>
              </a:defRPr>
            </a:lvl1pPr>
          </a:lstStyle>
          <a:p>
            <a:pPr/>
            <a:r>
              <a:t>Late delivery rate</a:t>
            </a:r>
          </a:p>
        </p:txBody>
      </p:sp>
      <p:sp>
        <p:nvSpPr>
          <p:cNvPr id="131" name="Text 25"/>
          <p:cNvSpPr txBox="1"/>
          <p:nvPr/>
        </p:nvSpPr>
        <p:spPr>
          <a:xfrm>
            <a:off x="6858000" y="4009688"/>
            <a:ext cx="8229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57C494"/>
                </a:solidFill>
              </a:defRPr>
            </a:lvl1pPr>
          </a:lstStyle>
          <a:p>
            <a:pPr/>
            <a:r>
              <a:t>4.8%</a:t>
            </a:r>
          </a:p>
        </p:txBody>
      </p:sp>
      <p:sp>
        <p:nvSpPr>
          <p:cNvPr id="132" name="Text 26"/>
          <p:cNvSpPr txBox="1"/>
          <p:nvPr/>
        </p:nvSpPr>
        <p:spPr>
          <a:xfrm>
            <a:off x="7818119" y="4009688"/>
            <a:ext cx="9601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76143"/>
                </a:solidFill>
              </a:defRPr>
            </a:lvl1pPr>
          </a:lstStyle>
          <a:p>
            <a:pPr/>
            <a:r>
              <a:t>8.0%</a:t>
            </a:r>
          </a:p>
        </p:txBody>
      </p:sp>
      <p:sp>
        <p:nvSpPr>
          <p:cNvPr id="133" name="Shape 27"/>
          <p:cNvSpPr/>
          <p:nvPr/>
        </p:nvSpPr>
        <p:spPr>
          <a:xfrm>
            <a:off x="5394959" y="4315967"/>
            <a:ext cx="2514601" cy="1"/>
          </a:xfrm>
          <a:prstGeom prst="line">
            <a:avLst/>
          </a:prstGeom>
          <a:ln w="6350">
            <a:solidFill>
              <a:srgbClr val="1E3535"/>
            </a:solidFill>
          </a:ln>
        </p:spPr>
        <p:txBody>
          <a:bodyPr lIns="45719" rIns="45719"/>
          <a:lstStyle/>
          <a:p>
            <a:pPr/>
          </a:p>
        </p:txBody>
      </p:sp>
      <p:sp>
        <p:nvSpPr>
          <p:cNvPr id="134" name="Text 28"/>
          <p:cNvSpPr txBox="1"/>
          <p:nvPr/>
        </p:nvSpPr>
        <p:spPr>
          <a:xfrm>
            <a:off x="5440679" y="4423323"/>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7ABFB9"/>
                </a:solidFill>
              </a:defRPr>
            </a:lvl1pPr>
          </a:lstStyle>
          <a:p>
            <a:pPr/>
            <a:r>
              <a:t>Order share</a:t>
            </a:r>
          </a:p>
        </p:txBody>
      </p:sp>
      <p:sp>
        <p:nvSpPr>
          <p:cNvPr id="135" name="Text 29"/>
          <p:cNvSpPr txBox="1"/>
          <p:nvPr/>
        </p:nvSpPr>
        <p:spPr>
          <a:xfrm>
            <a:off x="6858000" y="4412024"/>
            <a:ext cx="8229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57C494"/>
                </a:solidFill>
              </a:defRPr>
            </a:lvl1pPr>
          </a:lstStyle>
          <a:p>
            <a:pPr/>
            <a:r>
              <a:t>42.7%</a:t>
            </a:r>
          </a:p>
        </p:txBody>
      </p:sp>
      <p:sp>
        <p:nvSpPr>
          <p:cNvPr id="136" name="Text 30"/>
          <p:cNvSpPr txBox="1"/>
          <p:nvPr/>
        </p:nvSpPr>
        <p:spPr>
          <a:xfrm>
            <a:off x="7818119" y="4412024"/>
            <a:ext cx="9601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76143"/>
                </a:solidFill>
              </a:defRPr>
            </a:lvl1pPr>
          </a:lstStyle>
          <a:p>
            <a:pPr/>
            <a:r>
              <a:t>57.3%</a:t>
            </a:r>
          </a:p>
        </p:txBody>
      </p:sp>
      <p:sp>
        <p:nvSpPr>
          <p:cNvPr id="137" name="Shape 31"/>
          <p:cNvSpPr/>
          <p:nvPr/>
        </p:nvSpPr>
        <p:spPr>
          <a:xfrm>
            <a:off x="0" y="4956047"/>
            <a:ext cx="9144000" cy="187453"/>
          </a:xfrm>
          <a:prstGeom prst="rect">
            <a:avLst/>
          </a:prstGeom>
          <a:solidFill>
            <a:srgbClr val="1A2F2F"/>
          </a:solidFill>
          <a:ln w="12700">
            <a:solidFill>
              <a:srgbClr val="1A2F2F"/>
            </a:solidFill>
          </a:ln>
        </p:spPr>
        <p:txBody>
          <a:bodyPr lIns="45719" rIns="45719"/>
          <a:lstStyle/>
          <a:p>
            <a:pPr/>
          </a:p>
        </p:txBody>
      </p:sp>
      <p:sp>
        <p:nvSpPr>
          <p:cNvPr id="138" name="Text 32"/>
          <p:cNvSpPr txBox="1"/>
          <p:nvPr/>
        </p:nvSpPr>
        <p:spPr>
          <a:xfrm>
            <a:off x="411479" y="4949697"/>
            <a:ext cx="8321041" cy="18612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7ABFB9"/>
                </a:solidFill>
              </a:defRPr>
            </a:lvl1pPr>
          </a:lstStyle>
          <a:p>
            <a:pPr/>
            <a:r>
              <a:t>Marketplace  ·  Customer Satisfaction Analysis  ·  Finding 3: Seller Performance Variation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AF9"/>
        </a:solidFill>
      </p:bgPr>
    </p:bg>
    <p:spTree>
      <p:nvGrpSpPr>
        <p:cNvPr id="1" name=""/>
        <p:cNvGrpSpPr/>
        <p:nvPr/>
      </p:nvGrpSpPr>
      <p:grpSpPr>
        <a:xfrm>
          <a:off x="0" y="0"/>
          <a:ext cx="0" cy="0"/>
          <a:chOff x="0" y="0"/>
          <a:chExt cx="0" cy="0"/>
        </a:xfrm>
      </p:grpSpPr>
      <p:sp>
        <p:nvSpPr>
          <p:cNvPr id="140" name="Text 0"/>
          <p:cNvSpPr txBox="1"/>
          <p:nvPr/>
        </p:nvSpPr>
        <p:spPr>
          <a:xfrm>
            <a:off x="411479" y="295183"/>
            <a:ext cx="2651762"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A9D8F"/>
                </a:solidFill>
              </a:defRPr>
            </a:lvl1pPr>
          </a:lstStyle>
          <a:p>
            <a:pPr/>
            <a:r>
              <a:t>Recommendations</a:t>
            </a:r>
          </a:p>
        </p:txBody>
      </p:sp>
      <p:sp>
        <p:nvSpPr>
          <p:cNvPr id="141" name="Text 1"/>
          <p:cNvSpPr txBox="1"/>
          <p:nvPr/>
        </p:nvSpPr>
        <p:spPr>
          <a:xfrm>
            <a:off x="365759" y="723000"/>
            <a:ext cx="8412482" cy="346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1A2F2F"/>
                </a:solidFill>
              </a:defRPr>
            </a:lvl1pPr>
          </a:lstStyle>
          <a:p>
            <a:pPr/>
            <a:r>
              <a:t>Three interventions, each addressing the mechanism directly.</a:t>
            </a:r>
          </a:p>
        </p:txBody>
      </p:sp>
      <p:sp>
        <p:nvSpPr>
          <p:cNvPr id="142" name="Shape 2"/>
          <p:cNvSpPr/>
          <p:nvPr/>
        </p:nvSpPr>
        <p:spPr>
          <a:xfrm>
            <a:off x="365759" y="1572767"/>
            <a:ext cx="8412482" cy="1"/>
          </a:xfrm>
          <a:prstGeom prst="line">
            <a:avLst/>
          </a:prstGeom>
          <a:ln>
            <a:solidFill>
              <a:srgbClr val="C8DDD9"/>
            </a:solidFill>
          </a:ln>
        </p:spPr>
        <p:txBody>
          <a:bodyPr lIns="45719" rIns="45719"/>
          <a:lstStyle/>
          <a:p>
            <a:pPr/>
          </a:p>
        </p:txBody>
      </p:sp>
      <p:sp>
        <p:nvSpPr>
          <p:cNvPr id="143" name="Text 3"/>
          <p:cNvSpPr txBox="1"/>
          <p:nvPr/>
        </p:nvSpPr>
        <p:spPr>
          <a:xfrm>
            <a:off x="365759" y="1994016"/>
            <a:ext cx="502921" cy="346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2A9D8F"/>
                </a:solidFill>
              </a:defRPr>
            </a:lvl1pPr>
          </a:lstStyle>
          <a:p>
            <a:pPr/>
            <a:r>
              <a:t>01</a:t>
            </a:r>
          </a:p>
        </p:txBody>
      </p:sp>
      <p:sp>
        <p:nvSpPr>
          <p:cNvPr id="144" name="Shape 4"/>
          <p:cNvSpPr/>
          <p:nvPr/>
        </p:nvSpPr>
        <p:spPr>
          <a:xfrm flipH="1">
            <a:off x="969264" y="1773935"/>
            <a:ext cx="1" cy="786386"/>
          </a:xfrm>
          <a:prstGeom prst="line">
            <a:avLst/>
          </a:prstGeom>
          <a:ln w="12700">
            <a:solidFill>
              <a:srgbClr val="C8DDD9"/>
            </a:solidFill>
          </a:ln>
        </p:spPr>
        <p:txBody>
          <a:bodyPr lIns="45719" rIns="45719"/>
          <a:lstStyle/>
          <a:p>
            <a:pPr/>
          </a:p>
        </p:txBody>
      </p:sp>
      <p:sp>
        <p:nvSpPr>
          <p:cNvPr id="145" name="Text 5"/>
          <p:cNvSpPr txBox="1"/>
          <p:nvPr/>
        </p:nvSpPr>
        <p:spPr>
          <a:xfrm>
            <a:off x="1161288" y="1777799"/>
            <a:ext cx="7498079"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1A2F2F"/>
                </a:solidFill>
              </a:defRPr>
            </a:lvl1pPr>
          </a:lstStyle>
          <a:p>
            <a:pPr/>
            <a:r>
              <a:t>Seller quality indicator at point of purchase</a:t>
            </a:r>
          </a:p>
        </p:txBody>
      </p:sp>
      <p:sp>
        <p:nvSpPr>
          <p:cNvPr id="146" name="Text 6"/>
          <p:cNvSpPr txBox="1"/>
          <p:nvPr/>
        </p:nvSpPr>
        <p:spPr>
          <a:xfrm>
            <a:off x="1161288" y="2025186"/>
            <a:ext cx="7498079"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solidFill>
                  <a:srgbClr val="5C7270"/>
                </a:solidFill>
              </a:defRPr>
            </a:pPr>
            <a:r>
              <a:t>Surface a reliability score (review consistency + on-time rate) when buyers browse. </a:t>
            </a:r>
          </a:p>
          <a:p>
            <a:pPr>
              <a:defRPr sz="1000">
                <a:solidFill>
                  <a:srgbClr val="5C7270"/>
                </a:solidFill>
              </a:defRPr>
            </a:pPr>
            <a:r>
              <a:t>Buyers self-select toward quality; sellers have direct incentive to improve.</a:t>
            </a:r>
          </a:p>
        </p:txBody>
      </p:sp>
      <p:sp>
        <p:nvSpPr>
          <p:cNvPr id="147" name="Text 7"/>
          <p:cNvSpPr txBox="1"/>
          <p:nvPr/>
        </p:nvSpPr>
        <p:spPr>
          <a:xfrm>
            <a:off x="1161288" y="2416591"/>
            <a:ext cx="7498079"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800">
                <a:solidFill>
                  <a:srgbClr val="2A9D8F"/>
                </a:solidFill>
              </a:defRPr>
            </a:lvl1pPr>
          </a:lstStyle>
          <a:p>
            <a:pPr/>
            <a:r>
              <a:t>Effort: Medium  ·  Owner: Product, Marketplace Experience</a:t>
            </a:r>
          </a:p>
        </p:txBody>
      </p:sp>
      <p:sp>
        <p:nvSpPr>
          <p:cNvPr id="148" name="Shape 8"/>
          <p:cNvSpPr/>
          <p:nvPr/>
        </p:nvSpPr>
        <p:spPr>
          <a:xfrm>
            <a:off x="365759" y="2688335"/>
            <a:ext cx="8412482" cy="1"/>
          </a:xfrm>
          <a:prstGeom prst="line">
            <a:avLst/>
          </a:prstGeom>
          <a:ln w="6350">
            <a:solidFill>
              <a:srgbClr val="C8DDD9"/>
            </a:solidFill>
          </a:ln>
        </p:spPr>
        <p:txBody>
          <a:bodyPr lIns="45719" rIns="45719"/>
          <a:lstStyle/>
          <a:p>
            <a:pPr/>
          </a:p>
        </p:txBody>
      </p:sp>
      <p:sp>
        <p:nvSpPr>
          <p:cNvPr id="149" name="Text 9"/>
          <p:cNvSpPr txBox="1"/>
          <p:nvPr/>
        </p:nvSpPr>
        <p:spPr>
          <a:xfrm>
            <a:off x="365759" y="3036432"/>
            <a:ext cx="502921" cy="346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2A9D8F"/>
                </a:solidFill>
              </a:defRPr>
            </a:lvl1pPr>
          </a:lstStyle>
          <a:p>
            <a:pPr/>
            <a:r>
              <a:t>02</a:t>
            </a:r>
          </a:p>
        </p:txBody>
      </p:sp>
      <p:sp>
        <p:nvSpPr>
          <p:cNvPr id="150" name="Shape 10"/>
          <p:cNvSpPr/>
          <p:nvPr/>
        </p:nvSpPr>
        <p:spPr>
          <a:xfrm flipH="1">
            <a:off x="969264" y="2816352"/>
            <a:ext cx="1" cy="786385"/>
          </a:xfrm>
          <a:prstGeom prst="line">
            <a:avLst/>
          </a:prstGeom>
          <a:ln w="12700">
            <a:solidFill>
              <a:srgbClr val="C8DDD9"/>
            </a:solidFill>
          </a:ln>
        </p:spPr>
        <p:txBody>
          <a:bodyPr lIns="45719" rIns="45719"/>
          <a:lstStyle/>
          <a:p>
            <a:pPr/>
          </a:p>
        </p:txBody>
      </p:sp>
      <p:sp>
        <p:nvSpPr>
          <p:cNvPr id="151" name="Text 11"/>
          <p:cNvSpPr txBox="1"/>
          <p:nvPr/>
        </p:nvSpPr>
        <p:spPr>
          <a:xfrm>
            <a:off x="1161288" y="2820215"/>
            <a:ext cx="7498079"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1A2F2F"/>
                </a:solidFill>
              </a:defRPr>
            </a:lvl1pPr>
          </a:lstStyle>
          <a:p>
            <a:pPr/>
            <a:r>
              <a:t>Proactive notification for at-risk deliveries</a:t>
            </a:r>
          </a:p>
        </p:txBody>
      </p:sp>
      <p:sp>
        <p:nvSpPr>
          <p:cNvPr id="152" name="Text 12"/>
          <p:cNvSpPr txBox="1"/>
          <p:nvPr/>
        </p:nvSpPr>
        <p:spPr>
          <a:xfrm>
            <a:off x="1161288" y="3067602"/>
            <a:ext cx="7498079"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solidFill>
                  <a:srgbClr val="5C7270"/>
                </a:solidFill>
              </a:defRPr>
            </a:pPr>
            <a:r>
              <a:t>Flag orders likely to arrive 7+ days late and notify buyers early with a revised estimate. </a:t>
            </a:r>
          </a:p>
          <a:p>
            <a:pPr>
              <a:defRPr sz="1000">
                <a:solidFill>
                  <a:srgbClr val="5C7270"/>
                </a:solidFill>
              </a:defRPr>
            </a:pPr>
            <a:r>
              <a:t>Honest early communication reduces satisfaction damage even when outcomes are poor.</a:t>
            </a:r>
          </a:p>
        </p:txBody>
      </p:sp>
      <p:sp>
        <p:nvSpPr>
          <p:cNvPr id="153" name="Text 13"/>
          <p:cNvSpPr txBox="1"/>
          <p:nvPr/>
        </p:nvSpPr>
        <p:spPr>
          <a:xfrm>
            <a:off x="1161288" y="3459007"/>
            <a:ext cx="7498079"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800">
                <a:solidFill>
                  <a:srgbClr val="2A9D8F"/>
                </a:solidFill>
              </a:defRPr>
            </a:lvl1pPr>
          </a:lstStyle>
          <a:p>
            <a:pPr/>
            <a:r>
              <a:t>Effort: Medium  ·  Owner: Product, Buyer Experience</a:t>
            </a:r>
          </a:p>
        </p:txBody>
      </p:sp>
      <p:sp>
        <p:nvSpPr>
          <p:cNvPr id="154" name="Shape 14"/>
          <p:cNvSpPr/>
          <p:nvPr/>
        </p:nvSpPr>
        <p:spPr>
          <a:xfrm>
            <a:off x="365759" y="3730752"/>
            <a:ext cx="8412482" cy="1"/>
          </a:xfrm>
          <a:prstGeom prst="line">
            <a:avLst/>
          </a:prstGeom>
          <a:ln w="6350">
            <a:solidFill>
              <a:srgbClr val="C8DDD9"/>
            </a:solidFill>
          </a:ln>
        </p:spPr>
        <p:txBody>
          <a:bodyPr lIns="45719" rIns="45719"/>
          <a:lstStyle/>
          <a:p>
            <a:pPr/>
          </a:p>
        </p:txBody>
      </p:sp>
      <p:sp>
        <p:nvSpPr>
          <p:cNvPr id="155" name="Text 15"/>
          <p:cNvSpPr txBox="1"/>
          <p:nvPr/>
        </p:nvSpPr>
        <p:spPr>
          <a:xfrm>
            <a:off x="365759" y="4078847"/>
            <a:ext cx="502921"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2A9D8F"/>
                </a:solidFill>
              </a:defRPr>
            </a:lvl1pPr>
          </a:lstStyle>
          <a:p>
            <a:pPr/>
            <a:r>
              <a:t>03</a:t>
            </a:r>
          </a:p>
        </p:txBody>
      </p:sp>
      <p:sp>
        <p:nvSpPr>
          <p:cNvPr id="156" name="Shape 16"/>
          <p:cNvSpPr/>
          <p:nvPr/>
        </p:nvSpPr>
        <p:spPr>
          <a:xfrm flipH="1">
            <a:off x="969264" y="3858767"/>
            <a:ext cx="1" cy="786385"/>
          </a:xfrm>
          <a:prstGeom prst="line">
            <a:avLst/>
          </a:prstGeom>
          <a:ln w="12700">
            <a:solidFill>
              <a:srgbClr val="C8DDD9"/>
            </a:solidFill>
          </a:ln>
        </p:spPr>
        <p:txBody>
          <a:bodyPr lIns="45719" rIns="45719"/>
          <a:lstStyle/>
          <a:p>
            <a:pPr/>
          </a:p>
        </p:txBody>
      </p:sp>
      <p:sp>
        <p:nvSpPr>
          <p:cNvPr id="157" name="Text 17"/>
          <p:cNvSpPr txBox="1"/>
          <p:nvPr/>
        </p:nvSpPr>
        <p:spPr>
          <a:xfrm>
            <a:off x="1161288" y="3862631"/>
            <a:ext cx="7498079"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1A2F2F"/>
                </a:solidFill>
              </a:defRPr>
            </a:lvl1pPr>
          </a:lstStyle>
          <a:p>
            <a:pPr/>
            <a:r>
              <a:t>Monthly performance summary to low-performing sellers</a:t>
            </a:r>
          </a:p>
        </p:txBody>
      </p:sp>
      <p:sp>
        <p:nvSpPr>
          <p:cNvPr id="158" name="Text 18"/>
          <p:cNvSpPr txBox="1"/>
          <p:nvPr/>
        </p:nvSpPr>
        <p:spPr>
          <a:xfrm>
            <a:off x="1161288" y="4110018"/>
            <a:ext cx="7498079"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solidFill>
                  <a:srgbClr val="5C7270"/>
                </a:solidFill>
              </a:defRPr>
            </a:pPr>
            <a:r>
              <a:t>Send bottom-quartile sellers their score vs category average and on-time rate. </a:t>
            </a:r>
          </a:p>
          <a:p>
            <a:pPr>
              <a:defRPr sz="1000">
                <a:solidFill>
                  <a:srgbClr val="5C7270"/>
                </a:solidFill>
              </a:defRPr>
            </a:pPr>
            <a:r>
              <a:t>Pair with Seller Success outreach for sellers persistently below 3.5.</a:t>
            </a:r>
          </a:p>
        </p:txBody>
      </p:sp>
      <p:sp>
        <p:nvSpPr>
          <p:cNvPr id="159" name="Text 19"/>
          <p:cNvSpPr txBox="1"/>
          <p:nvPr/>
        </p:nvSpPr>
        <p:spPr>
          <a:xfrm>
            <a:off x="1161288" y="4501423"/>
            <a:ext cx="7498079"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800">
                <a:solidFill>
                  <a:srgbClr val="2A9D8F"/>
                </a:solidFill>
              </a:defRPr>
            </a:lvl1pPr>
          </a:lstStyle>
          <a:p>
            <a:pPr/>
            <a:r>
              <a:t>Effort: Low-Medium  ·  Owner: Seller Success + Product</a:t>
            </a:r>
          </a:p>
        </p:txBody>
      </p:sp>
      <p:sp>
        <p:nvSpPr>
          <p:cNvPr id="160" name="Shape 20"/>
          <p:cNvSpPr/>
          <p:nvPr/>
        </p:nvSpPr>
        <p:spPr>
          <a:xfrm>
            <a:off x="0" y="4956047"/>
            <a:ext cx="9144000" cy="187453"/>
          </a:xfrm>
          <a:prstGeom prst="rect">
            <a:avLst/>
          </a:prstGeom>
          <a:solidFill>
            <a:srgbClr val="1A2F2F"/>
          </a:solidFill>
          <a:ln w="12700">
            <a:solidFill>
              <a:srgbClr val="1A2F2F"/>
            </a:solidFill>
          </a:ln>
        </p:spPr>
        <p:txBody>
          <a:bodyPr lIns="45719" rIns="45719"/>
          <a:lstStyle/>
          <a:p>
            <a:pPr/>
          </a:p>
        </p:txBody>
      </p:sp>
      <p:sp>
        <p:nvSpPr>
          <p:cNvPr id="161" name="Text 21"/>
          <p:cNvSpPr txBox="1"/>
          <p:nvPr/>
        </p:nvSpPr>
        <p:spPr>
          <a:xfrm>
            <a:off x="411479" y="4956714"/>
            <a:ext cx="8321041" cy="18612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7ABFB9"/>
                </a:solidFill>
              </a:defRPr>
            </a:lvl1pPr>
          </a:lstStyle>
          <a:p>
            <a:pPr/>
            <a:r>
              <a:t>Marketplace  ·  Customer Satisfaction Analysis  ·  Recommendations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